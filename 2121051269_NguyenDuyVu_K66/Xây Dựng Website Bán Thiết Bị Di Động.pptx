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Lato" panose="020F0502020204030203" pitchFamily="34" charset="0"/>
      <p:regular r:id="rId20"/>
    </p:embeddedFont>
    <p:embeddedFont>
      <p:font typeface="Poppins" panose="00000500000000000000" pitchFamily="2" charset="0"/>
      <p:regular r:id="rId21"/>
    </p:embeddedFont>
    <p:embeddedFont>
      <p:font typeface="Poppins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5D03CC-E6C2-4479-90AD-8BDBFC3F7C3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F75F8B-1D6A-4662-8189-8E8269ADE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32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F75F8B-1D6A-4662-8189-8E8269ADE3B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114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1144375" y="3750878"/>
            <a:ext cx="10659690" cy="4745635"/>
            <a:chOff x="0" y="0"/>
            <a:chExt cx="2807490" cy="12498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07490" cy="1249879"/>
            </a:xfrm>
            <a:custGeom>
              <a:avLst/>
              <a:gdLst/>
              <a:ahLst/>
              <a:cxnLst/>
              <a:rect l="l" t="t" r="r" b="b"/>
              <a:pathLst>
                <a:path w="2807490" h="1249879">
                  <a:moveTo>
                    <a:pt x="22515" y="0"/>
                  </a:moveTo>
                  <a:lnTo>
                    <a:pt x="2784976" y="0"/>
                  </a:lnTo>
                  <a:cubicBezTo>
                    <a:pt x="2790947" y="0"/>
                    <a:pt x="2796673" y="2372"/>
                    <a:pt x="2800896" y="6594"/>
                  </a:cubicBezTo>
                  <a:cubicBezTo>
                    <a:pt x="2805118" y="10817"/>
                    <a:pt x="2807490" y="16543"/>
                    <a:pt x="2807490" y="22515"/>
                  </a:cubicBezTo>
                  <a:lnTo>
                    <a:pt x="2807490" y="1227365"/>
                  </a:lnTo>
                  <a:cubicBezTo>
                    <a:pt x="2807490" y="1233336"/>
                    <a:pt x="2805118" y="1239063"/>
                    <a:pt x="2800896" y="1243285"/>
                  </a:cubicBezTo>
                  <a:cubicBezTo>
                    <a:pt x="2796673" y="1247507"/>
                    <a:pt x="2790947" y="1249879"/>
                    <a:pt x="2784976" y="1249879"/>
                  </a:cubicBezTo>
                  <a:lnTo>
                    <a:pt x="22515" y="1249879"/>
                  </a:lnTo>
                  <a:cubicBezTo>
                    <a:pt x="16543" y="1249879"/>
                    <a:pt x="10817" y="1247507"/>
                    <a:pt x="6594" y="1243285"/>
                  </a:cubicBezTo>
                  <a:cubicBezTo>
                    <a:pt x="2372" y="1239063"/>
                    <a:pt x="0" y="1233336"/>
                    <a:pt x="0" y="1227365"/>
                  </a:cubicBezTo>
                  <a:lnTo>
                    <a:pt x="0" y="22515"/>
                  </a:lnTo>
                  <a:cubicBezTo>
                    <a:pt x="0" y="16543"/>
                    <a:pt x="2372" y="10817"/>
                    <a:pt x="6594" y="6594"/>
                  </a:cubicBezTo>
                  <a:cubicBezTo>
                    <a:pt x="10817" y="2372"/>
                    <a:pt x="16543" y="0"/>
                    <a:pt x="22515" y="0"/>
                  </a:cubicBezTo>
                  <a:close/>
                </a:path>
              </a:pathLst>
            </a:custGeom>
            <a:solidFill>
              <a:srgbClr val="FFFFFF">
                <a:alpha val="22745"/>
              </a:srgbClr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807490" cy="13070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759342" y="1257019"/>
            <a:ext cx="316783" cy="393297"/>
          </a:xfrm>
          <a:custGeom>
            <a:avLst/>
            <a:gdLst/>
            <a:ahLst/>
            <a:cxnLst/>
            <a:rect l="l" t="t" r="r" b="b"/>
            <a:pathLst>
              <a:path w="316783" h="393297">
                <a:moveTo>
                  <a:pt x="0" y="0"/>
                </a:moveTo>
                <a:lnTo>
                  <a:pt x="316783" y="0"/>
                </a:lnTo>
                <a:lnTo>
                  <a:pt x="316783" y="393297"/>
                </a:lnTo>
                <a:lnTo>
                  <a:pt x="0" y="3932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6170163" y="3953536"/>
            <a:ext cx="4246041" cy="4246041"/>
          </a:xfrm>
          <a:custGeom>
            <a:avLst/>
            <a:gdLst/>
            <a:ahLst/>
            <a:cxnLst/>
            <a:rect l="l" t="t" r="r" b="b"/>
            <a:pathLst>
              <a:path w="4246041" h="4246041">
                <a:moveTo>
                  <a:pt x="0" y="0"/>
                </a:moveTo>
                <a:lnTo>
                  <a:pt x="4246041" y="0"/>
                </a:lnTo>
                <a:lnTo>
                  <a:pt x="4246041" y="4246041"/>
                </a:lnTo>
                <a:lnTo>
                  <a:pt x="0" y="42460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2377522" y="612343"/>
            <a:ext cx="2075947" cy="2075947"/>
          </a:xfrm>
          <a:custGeom>
            <a:avLst/>
            <a:gdLst/>
            <a:ahLst/>
            <a:cxnLst/>
            <a:rect l="l" t="t" r="r" b="b"/>
            <a:pathLst>
              <a:path w="2075947" h="2075947">
                <a:moveTo>
                  <a:pt x="0" y="0"/>
                </a:moveTo>
                <a:lnTo>
                  <a:pt x="2075947" y="0"/>
                </a:lnTo>
                <a:lnTo>
                  <a:pt x="2075947" y="2075947"/>
                </a:lnTo>
                <a:lnTo>
                  <a:pt x="0" y="20759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377522" y="3507043"/>
            <a:ext cx="10217210" cy="3358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79"/>
              </a:lnSpc>
            </a:pPr>
            <a:r>
              <a:rPr lang="en-US" sz="8479" b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Xây dựng Website</a:t>
            </a:r>
          </a:p>
          <a:p>
            <a:pPr marL="0" lvl="0" indent="0" algn="l">
              <a:lnSpc>
                <a:spcPts val="8479"/>
              </a:lnSpc>
            </a:pPr>
            <a:r>
              <a:rPr lang="en-US" sz="8479" b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Bán Thiết Bị Di Động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02217" y="7921212"/>
            <a:ext cx="8457083" cy="116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08"/>
              </a:lnSpc>
            </a:pPr>
            <a:r>
              <a:rPr lang="en-US" sz="2098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Sinh viên: Nguyễn Duy Vũ (Khóa 66) </a:t>
            </a:r>
          </a:p>
          <a:p>
            <a:pPr marL="0" lvl="0" indent="0" algn="r">
              <a:lnSpc>
                <a:spcPts val="2308"/>
              </a:lnSpc>
            </a:pPr>
            <a:r>
              <a:rPr lang="en-US" sz="2098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MSV: 2121051269</a:t>
            </a:r>
          </a:p>
          <a:p>
            <a:pPr marL="0" lvl="0" indent="0" algn="r">
              <a:lnSpc>
                <a:spcPts val="2308"/>
              </a:lnSpc>
            </a:pPr>
            <a:r>
              <a:rPr lang="en-US" sz="2098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 Chuyên ngành: Khoa học Máy tính </a:t>
            </a:r>
          </a:p>
          <a:p>
            <a:pPr marL="0" lvl="0" indent="0" algn="r">
              <a:lnSpc>
                <a:spcPts val="2308"/>
              </a:lnSpc>
            </a:pPr>
            <a:r>
              <a:rPr lang="en-US" sz="2098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 GVHD: Cô Nguyễn Thị Phương Bắc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509828" y="3796863"/>
            <a:ext cx="1459373" cy="1088876"/>
            <a:chOff x="0" y="0"/>
            <a:chExt cx="384362" cy="28678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4362" cy="286782"/>
            </a:xfrm>
            <a:custGeom>
              <a:avLst/>
              <a:gdLst/>
              <a:ahLst/>
              <a:cxnLst/>
              <a:rect l="l" t="t" r="r" b="b"/>
              <a:pathLst>
                <a:path w="384362" h="286782">
                  <a:moveTo>
                    <a:pt x="74269" y="0"/>
                  </a:moveTo>
                  <a:lnTo>
                    <a:pt x="310092" y="0"/>
                  </a:lnTo>
                  <a:cubicBezTo>
                    <a:pt x="351110" y="0"/>
                    <a:pt x="384362" y="33252"/>
                    <a:pt x="384362" y="74269"/>
                  </a:cubicBezTo>
                  <a:lnTo>
                    <a:pt x="384362" y="212513"/>
                  </a:lnTo>
                  <a:cubicBezTo>
                    <a:pt x="384362" y="253531"/>
                    <a:pt x="351110" y="286782"/>
                    <a:pt x="310092" y="286782"/>
                  </a:cubicBezTo>
                  <a:lnTo>
                    <a:pt x="74269" y="286782"/>
                  </a:lnTo>
                  <a:cubicBezTo>
                    <a:pt x="33252" y="286782"/>
                    <a:pt x="0" y="253531"/>
                    <a:pt x="0" y="212513"/>
                  </a:cubicBezTo>
                  <a:lnTo>
                    <a:pt x="0" y="74269"/>
                  </a:lnTo>
                  <a:cubicBezTo>
                    <a:pt x="0" y="33252"/>
                    <a:pt x="33252" y="0"/>
                    <a:pt x="74269" y="0"/>
                  </a:cubicBezTo>
                  <a:close/>
                </a:path>
              </a:pathLst>
            </a:custGeom>
            <a:solidFill>
              <a:srgbClr val="FDCC6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84362" cy="343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16338" y="3796863"/>
            <a:ext cx="4500908" cy="3771771"/>
            <a:chOff x="0" y="0"/>
            <a:chExt cx="1185424" cy="9933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5424" cy="993388"/>
            </a:xfrm>
            <a:custGeom>
              <a:avLst/>
              <a:gdLst/>
              <a:ahLst/>
              <a:cxnLst/>
              <a:rect l="l" t="t" r="r" b="b"/>
              <a:pathLst>
                <a:path w="1185424" h="993388">
                  <a:moveTo>
                    <a:pt x="87724" y="0"/>
                  </a:moveTo>
                  <a:lnTo>
                    <a:pt x="1097700" y="0"/>
                  </a:lnTo>
                  <a:cubicBezTo>
                    <a:pt x="1120966" y="0"/>
                    <a:pt x="1143279" y="9242"/>
                    <a:pt x="1159731" y="25694"/>
                  </a:cubicBezTo>
                  <a:cubicBezTo>
                    <a:pt x="1176182" y="42145"/>
                    <a:pt x="1185424" y="64458"/>
                    <a:pt x="1185424" y="87724"/>
                  </a:cubicBezTo>
                  <a:lnTo>
                    <a:pt x="1185424" y="905664"/>
                  </a:lnTo>
                  <a:cubicBezTo>
                    <a:pt x="1185424" y="928930"/>
                    <a:pt x="1176182" y="951243"/>
                    <a:pt x="1159731" y="967695"/>
                  </a:cubicBezTo>
                  <a:cubicBezTo>
                    <a:pt x="1143279" y="984146"/>
                    <a:pt x="1120966" y="993388"/>
                    <a:pt x="1097700" y="993388"/>
                  </a:cubicBezTo>
                  <a:lnTo>
                    <a:pt x="87724" y="993388"/>
                  </a:lnTo>
                  <a:cubicBezTo>
                    <a:pt x="39275" y="993388"/>
                    <a:pt x="0" y="954113"/>
                    <a:pt x="0" y="905664"/>
                  </a:cubicBezTo>
                  <a:lnTo>
                    <a:pt x="0" y="87724"/>
                  </a:lnTo>
                  <a:cubicBezTo>
                    <a:pt x="0" y="39275"/>
                    <a:pt x="39275" y="0"/>
                    <a:pt x="8772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185424" cy="1050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1194414" y="256856"/>
            <a:ext cx="2395065" cy="2573244"/>
          </a:xfrm>
          <a:custGeom>
            <a:avLst/>
            <a:gdLst/>
            <a:ahLst/>
            <a:cxnLst/>
            <a:rect l="l" t="t" r="r" b="b"/>
            <a:pathLst>
              <a:path w="2395065" h="2573244">
                <a:moveTo>
                  <a:pt x="0" y="0"/>
                </a:moveTo>
                <a:lnTo>
                  <a:pt x="2395065" y="0"/>
                </a:lnTo>
                <a:lnTo>
                  <a:pt x="2395065" y="2573244"/>
                </a:lnTo>
                <a:lnTo>
                  <a:pt x="0" y="25732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7093494" y="7412564"/>
            <a:ext cx="2395349" cy="2636030"/>
          </a:xfrm>
          <a:custGeom>
            <a:avLst/>
            <a:gdLst/>
            <a:ahLst/>
            <a:cxnLst/>
            <a:rect l="l" t="t" r="r" b="b"/>
            <a:pathLst>
              <a:path w="2395349" h="2636030">
                <a:moveTo>
                  <a:pt x="0" y="0"/>
                </a:moveTo>
                <a:lnTo>
                  <a:pt x="2395349" y="0"/>
                </a:lnTo>
                <a:lnTo>
                  <a:pt x="2395349" y="2636031"/>
                </a:lnTo>
                <a:lnTo>
                  <a:pt x="0" y="26360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700325" y="4017009"/>
            <a:ext cx="795425" cy="798419"/>
          </a:xfrm>
          <a:custGeom>
            <a:avLst/>
            <a:gdLst/>
            <a:ahLst/>
            <a:cxnLst/>
            <a:rect l="l" t="t" r="r" b="b"/>
            <a:pathLst>
              <a:path w="795425" h="798419">
                <a:moveTo>
                  <a:pt x="0" y="0"/>
                </a:moveTo>
                <a:lnTo>
                  <a:pt x="795425" y="0"/>
                </a:lnTo>
                <a:lnTo>
                  <a:pt x="795425" y="798419"/>
                </a:lnTo>
                <a:lnTo>
                  <a:pt x="0" y="7984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810742" y="4091438"/>
            <a:ext cx="3912101" cy="275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07"/>
              </a:lnSpc>
            </a:pPr>
            <a:r>
              <a:rPr lang="en-US" sz="1933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Nhu Cầu Thực Tế</a:t>
            </a:r>
          </a:p>
          <a:p>
            <a:pPr marL="0" lvl="0" indent="0" algn="just">
              <a:lnSpc>
                <a:spcPts val="2707"/>
              </a:lnSpc>
            </a:pPr>
            <a:r>
              <a:rPr lang="en-US" sz="1933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• Mua sắm online ngày càng phổ biến, đặc biệt với thiết bị di động</a:t>
            </a:r>
          </a:p>
          <a:p>
            <a:pPr marL="0" lvl="0" indent="0" algn="just">
              <a:lnSpc>
                <a:spcPts val="2707"/>
              </a:lnSpc>
            </a:pPr>
            <a:r>
              <a:rPr lang="en-US" sz="1933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• Website giúp cửa hàng hoạt động chuyên nghiệp hơn</a:t>
            </a:r>
          </a:p>
          <a:p>
            <a:pPr marL="0" lvl="0" indent="0" algn="just">
              <a:lnSpc>
                <a:spcPts val="2707"/>
              </a:lnSpc>
            </a:pPr>
            <a:r>
              <a:rPr lang="en-US" sz="1933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• Khách hàng dễ dàng tìm kiếm  sản phẩm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33857" y="1909755"/>
            <a:ext cx="13420286" cy="1284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35"/>
              </a:lnSpc>
            </a:pPr>
            <a:r>
              <a:rPr lang="en-US" sz="7168" b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Lý Do Chọn Đề Tài &amp; Mục Tiêu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379196" y="3796863"/>
            <a:ext cx="1459373" cy="1088876"/>
            <a:chOff x="0" y="0"/>
            <a:chExt cx="384362" cy="28678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84362" cy="286782"/>
            </a:xfrm>
            <a:custGeom>
              <a:avLst/>
              <a:gdLst/>
              <a:ahLst/>
              <a:cxnLst/>
              <a:rect l="l" t="t" r="r" b="b"/>
              <a:pathLst>
                <a:path w="384362" h="286782">
                  <a:moveTo>
                    <a:pt x="74269" y="0"/>
                  </a:moveTo>
                  <a:lnTo>
                    <a:pt x="310092" y="0"/>
                  </a:lnTo>
                  <a:cubicBezTo>
                    <a:pt x="351110" y="0"/>
                    <a:pt x="384362" y="33252"/>
                    <a:pt x="384362" y="74269"/>
                  </a:cubicBezTo>
                  <a:lnTo>
                    <a:pt x="384362" y="212513"/>
                  </a:lnTo>
                  <a:cubicBezTo>
                    <a:pt x="384362" y="253531"/>
                    <a:pt x="351110" y="286782"/>
                    <a:pt x="310092" y="286782"/>
                  </a:cubicBezTo>
                  <a:lnTo>
                    <a:pt x="74269" y="286782"/>
                  </a:lnTo>
                  <a:cubicBezTo>
                    <a:pt x="33252" y="286782"/>
                    <a:pt x="0" y="253531"/>
                    <a:pt x="0" y="212513"/>
                  </a:cubicBezTo>
                  <a:lnTo>
                    <a:pt x="0" y="74269"/>
                  </a:lnTo>
                  <a:cubicBezTo>
                    <a:pt x="0" y="33252"/>
                    <a:pt x="33252" y="0"/>
                    <a:pt x="74269" y="0"/>
                  </a:cubicBezTo>
                  <a:close/>
                </a:path>
              </a:pathLst>
            </a:custGeom>
            <a:solidFill>
              <a:srgbClr val="FDCC6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384362" cy="343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6563798" y="3966305"/>
            <a:ext cx="692947" cy="711525"/>
          </a:xfrm>
          <a:custGeom>
            <a:avLst/>
            <a:gdLst/>
            <a:ahLst/>
            <a:cxnLst/>
            <a:rect l="l" t="t" r="r" b="b"/>
            <a:pathLst>
              <a:path w="692947" h="711525">
                <a:moveTo>
                  <a:pt x="0" y="0"/>
                </a:moveTo>
                <a:lnTo>
                  <a:pt x="692947" y="0"/>
                </a:lnTo>
                <a:lnTo>
                  <a:pt x="692947" y="711525"/>
                </a:lnTo>
                <a:lnTo>
                  <a:pt x="0" y="7115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7385706" y="3796863"/>
            <a:ext cx="4500908" cy="3771771"/>
            <a:chOff x="0" y="0"/>
            <a:chExt cx="1185424" cy="9933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85424" cy="993388"/>
            </a:xfrm>
            <a:custGeom>
              <a:avLst/>
              <a:gdLst/>
              <a:ahLst/>
              <a:cxnLst/>
              <a:rect l="l" t="t" r="r" b="b"/>
              <a:pathLst>
                <a:path w="1185424" h="993388">
                  <a:moveTo>
                    <a:pt x="87724" y="0"/>
                  </a:moveTo>
                  <a:lnTo>
                    <a:pt x="1097700" y="0"/>
                  </a:lnTo>
                  <a:cubicBezTo>
                    <a:pt x="1120966" y="0"/>
                    <a:pt x="1143279" y="9242"/>
                    <a:pt x="1159731" y="25694"/>
                  </a:cubicBezTo>
                  <a:cubicBezTo>
                    <a:pt x="1176182" y="42145"/>
                    <a:pt x="1185424" y="64458"/>
                    <a:pt x="1185424" y="87724"/>
                  </a:cubicBezTo>
                  <a:lnTo>
                    <a:pt x="1185424" y="905664"/>
                  </a:lnTo>
                  <a:cubicBezTo>
                    <a:pt x="1185424" y="928930"/>
                    <a:pt x="1176182" y="951243"/>
                    <a:pt x="1159731" y="967695"/>
                  </a:cubicBezTo>
                  <a:cubicBezTo>
                    <a:pt x="1143279" y="984146"/>
                    <a:pt x="1120966" y="993388"/>
                    <a:pt x="1097700" y="993388"/>
                  </a:cubicBezTo>
                  <a:lnTo>
                    <a:pt x="87724" y="993388"/>
                  </a:lnTo>
                  <a:cubicBezTo>
                    <a:pt x="39275" y="993388"/>
                    <a:pt x="0" y="954113"/>
                    <a:pt x="0" y="905664"/>
                  </a:cubicBezTo>
                  <a:lnTo>
                    <a:pt x="0" y="87724"/>
                  </a:lnTo>
                  <a:cubicBezTo>
                    <a:pt x="0" y="39275"/>
                    <a:pt x="39275" y="0"/>
                    <a:pt x="8772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185424" cy="1050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680109" y="4091438"/>
            <a:ext cx="3912101" cy="3094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07"/>
              </a:lnSpc>
            </a:pPr>
            <a:r>
              <a:rPr lang="en-US" sz="1933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Mục Tiêu Chức Năng</a:t>
            </a:r>
          </a:p>
          <a:p>
            <a:pPr marL="0" lvl="0" indent="0" algn="just">
              <a:lnSpc>
                <a:spcPts val="2707"/>
              </a:lnSpc>
            </a:pPr>
            <a:r>
              <a:rPr lang="en-US" sz="1933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• Xem danh sách và chi tiết sản phẩm</a:t>
            </a:r>
          </a:p>
          <a:p>
            <a:pPr marL="0" lvl="0" indent="0" algn="just">
              <a:lnSpc>
                <a:spcPts val="2707"/>
              </a:lnSpc>
            </a:pPr>
            <a:r>
              <a:rPr lang="en-US" sz="1933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• Bộ lọc thông minh theo hãng, giá</a:t>
            </a:r>
          </a:p>
          <a:p>
            <a:pPr marL="0" lvl="0" indent="0" algn="just">
              <a:lnSpc>
                <a:spcPts val="2707"/>
              </a:lnSpc>
            </a:pPr>
            <a:r>
              <a:rPr lang="en-US" sz="1933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• Quản lý giỏ hàng và đặt hàng COD</a:t>
            </a:r>
          </a:p>
          <a:p>
            <a:pPr marL="0" lvl="0" indent="0" algn="just">
              <a:lnSpc>
                <a:spcPts val="2707"/>
              </a:lnSpc>
            </a:pPr>
            <a:r>
              <a:rPr lang="en-US" sz="1933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• Quản lý kho, đơn hàng, người dùng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248564" y="3796863"/>
            <a:ext cx="1459373" cy="1088876"/>
            <a:chOff x="0" y="0"/>
            <a:chExt cx="384362" cy="28678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84362" cy="286782"/>
            </a:xfrm>
            <a:custGeom>
              <a:avLst/>
              <a:gdLst/>
              <a:ahLst/>
              <a:cxnLst/>
              <a:rect l="l" t="t" r="r" b="b"/>
              <a:pathLst>
                <a:path w="384362" h="286782">
                  <a:moveTo>
                    <a:pt x="74269" y="0"/>
                  </a:moveTo>
                  <a:lnTo>
                    <a:pt x="310092" y="0"/>
                  </a:lnTo>
                  <a:cubicBezTo>
                    <a:pt x="351110" y="0"/>
                    <a:pt x="384362" y="33252"/>
                    <a:pt x="384362" y="74269"/>
                  </a:cubicBezTo>
                  <a:lnTo>
                    <a:pt x="384362" y="212513"/>
                  </a:lnTo>
                  <a:cubicBezTo>
                    <a:pt x="384362" y="253531"/>
                    <a:pt x="351110" y="286782"/>
                    <a:pt x="310092" y="286782"/>
                  </a:cubicBezTo>
                  <a:lnTo>
                    <a:pt x="74269" y="286782"/>
                  </a:lnTo>
                  <a:cubicBezTo>
                    <a:pt x="33252" y="286782"/>
                    <a:pt x="0" y="253531"/>
                    <a:pt x="0" y="212513"/>
                  </a:cubicBezTo>
                  <a:lnTo>
                    <a:pt x="0" y="74269"/>
                  </a:lnTo>
                  <a:cubicBezTo>
                    <a:pt x="0" y="33252"/>
                    <a:pt x="33252" y="0"/>
                    <a:pt x="74269" y="0"/>
                  </a:cubicBezTo>
                  <a:close/>
                </a:path>
              </a:pathLst>
            </a:custGeom>
            <a:solidFill>
              <a:srgbClr val="FDCC6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384362" cy="343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2186314" y="3967112"/>
            <a:ext cx="1136007" cy="851009"/>
          </a:xfrm>
          <a:custGeom>
            <a:avLst/>
            <a:gdLst/>
            <a:ahLst/>
            <a:cxnLst/>
            <a:rect l="l" t="t" r="r" b="b"/>
            <a:pathLst>
              <a:path w="1136007" h="851009">
                <a:moveTo>
                  <a:pt x="0" y="0"/>
                </a:moveTo>
                <a:lnTo>
                  <a:pt x="1136007" y="0"/>
                </a:lnTo>
                <a:lnTo>
                  <a:pt x="1136007" y="851008"/>
                </a:lnTo>
                <a:lnTo>
                  <a:pt x="0" y="8510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13255073" y="3796863"/>
            <a:ext cx="4500908" cy="3771771"/>
            <a:chOff x="0" y="0"/>
            <a:chExt cx="1185424" cy="99338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85424" cy="993388"/>
            </a:xfrm>
            <a:custGeom>
              <a:avLst/>
              <a:gdLst/>
              <a:ahLst/>
              <a:cxnLst/>
              <a:rect l="l" t="t" r="r" b="b"/>
              <a:pathLst>
                <a:path w="1185424" h="993388">
                  <a:moveTo>
                    <a:pt x="87724" y="0"/>
                  </a:moveTo>
                  <a:lnTo>
                    <a:pt x="1097700" y="0"/>
                  </a:lnTo>
                  <a:cubicBezTo>
                    <a:pt x="1120966" y="0"/>
                    <a:pt x="1143279" y="9242"/>
                    <a:pt x="1159731" y="25694"/>
                  </a:cubicBezTo>
                  <a:cubicBezTo>
                    <a:pt x="1176182" y="42145"/>
                    <a:pt x="1185424" y="64458"/>
                    <a:pt x="1185424" y="87724"/>
                  </a:cubicBezTo>
                  <a:lnTo>
                    <a:pt x="1185424" y="905664"/>
                  </a:lnTo>
                  <a:cubicBezTo>
                    <a:pt x="1185424" y="928930"/>
                    <a:pt x="1176182" y="951243"/>
                    <a:pt x="1159731" y="967695"/>
                  </a:cubicBezTo>
                  <a:cubicBezTo>
                    <a:pt x="1143279" y="984146"/>
                    <a:pt x="1120966" y="993388"/>
                    <a:pt x="1097700" y="993388"/>
                  </a:cubicBezTo>
                  <a:lnTo>
                    <a:pt x="87724" y="993388"/>
                  </a:lnTo>
                  <a:cubicBezTo>
                    <a:pt x="39275" y="993388"/>
                    <a:pt x="0" y="954113"/>
                    <a:pt x="0" y="905664"/>
                  </a:cubicBezTo>
                  <a:lnTo>
                    <a:pt x="0" y="87724"/>
                  </a:lnTo>
                  <a:cubicBezTo>
                    <a:pt x="0" y="39275"/>
                    <a:pt x="39275" y="0"/>
                    <a:pt x="8772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1185424" cy="1050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549477" y="4091438"/>
            <a:ext cx="3912101" cy="275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07"/>
              </a:lnSpc>
            </a:pPr>
            <a:r>
              <a:rPr lang="en-US" sz="1933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Mục Tiêu Kỹ Thuật</a:t>
            </a:r>
          </a:p>
          <a:p>
            <a:pPr marL="0" lvl="0" indent="0" algn="just">
              <a:lnSpc>
                <a:spcPts val="2707"/>
              </a:lnSpc>
            </a:pPr>
            <a:r>
              <a:rPr lang="en-US" sz="1933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• Áp dụng Django &amp; Python (kiến trúc MVT)</a:t>
            </a:r>
          </a:p>
          <a:p>
            <a:pPr marL="0" lvl="0" indent="0" algn="just">
              <a:lnSpc>
                <a:spcPts val="2707"/>
              </a:lnSpc>
            </a:pPr>
            <a:r>
              <a:rPr lang="en-US" sz="1933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• Tải dữ liệu ngầm với Fetch API</a:t>
            </a:r>
          </a:p>
          <a:p>
            <a:pPr marL="0" lvl="0" indent="0" algn="just">
              <a:lnSpc>
                <a:spcPts val="2707"/>
              </a:lnSpc>
            </a:pPr>
            <a:r>
              <a:rPr lang="en-US" sz="1933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• Giao diện responsive với Bootstrap</a:t>
            </a:r>
          </a:p>
          <a:p>
            <a:pPr marL="0" lvl="0" indent="0" algn="just">
              <a:lnSpc>
                <a:spcPts val="2707"/>
              </a:lnSpc>
            </a:pPr>
            <a:r>
              <a:rPr lang="en-US" sz="1933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• Rèn luyện kỹ năng giải quyết thực tế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22903" y="4535252"/>
            <a:ext cx="18933806" cy="6277575"/>
            <a:chOff x="0" y="0"/>
            <a:chExt cx="2381834" cy="7897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81834" cy="789706"/>
            </a:xfrm>
            <a:custGeom>
              <a:avLst/>
              <a:gdLst/>
              <a:ahLst/>
              <a:cxnLst/>
              <a:rect l="l" t="t" r="r" b="b"/>
              <a:pathLst>
                <a:path w="2381834" h="789706">
                  <a:moveTo>
                    <a:pt x="0" y="0"/>
                  </a:moveTo>
                  <a:lnTo>
                    <a:pt x="2381834" y="0"/>
                  </a:lnTo>
                  <a:lnTo>
                    <a:pt x="2381834" y="789706"/>
                  </a:lnTo>
                  <a:lnTo>
                    <a:pt x="0" y="789706"/>
                  </a:lnTo>
                  <a:close/>
                </a:path>
              </a:pathLst>
            </a:custGeom>
            <a:blipFill>
              <a:blip r:embed="rId2"/>
              <a:stretch>
                <a:fillRect t="-35958" b="-3595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591376" y="3918853"/>
            <a:ext cx="865731" cy="902682"/>
            <a:chOff x="0" y="0"/>
            <a:chExt cx="228012" cy="23774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8012" cy="237743"/>
            </a:xfrm>
            <a:custGeom>
              <a:avLst/>
              <a:gdLst/>
              <a:ahLst/>
              <a:cxnLst/>
              <a:rect l="l" t="t" r="r" b="b"/>
              <a:pathLst>
                <a:path w="228012" h="237743">
                  <a:moveTo>
                    <a:pt x="114006" y="0"/>
                  </a:moveTo>
                  <a:lnTo>
                    <a:pt x="114006" y="0"/>
                  </a:lnTo>
                  <a:cubicBezTo>
                    <a:pt x="176969" y="0"/>
                    <a:pt x="228012" y="51042"/>
                    <a:pt x="228012" y="114006"/>
                  </a:cubicBezTo>
                  <a:lnTo>
                    <a:pt x="228012" y="123738"/>
                  </a:lnTo>
                  <a:cubicBezTo>
                    <a:pt x="228012" y="186701"/>
                    <a:pt x="176969" y="237743"/>
                    <a:pt x="114006" y="237743"/>
                  </a:cubicBezTo>
                  <a:lnTo>
                    <a:pt x="114006" y="237743"/>
                  </a:lnTo>
                  <a:cubicBezTo>
                    <a:pt x="51042" y="237743"/>
                    <a:pt x="0" y="186701"/>
                    <a:pt x="0" y="123738"/>
                  </a:cubicBezTo>
                  <a:lnTo>
                    <a:pt x="0" y="114006"/>
                  </a:lnTo>
                  <a:cubicBezTo>
                    <a:pt x="0" y="51042"/>
                    <a:pt x="51042" y="0"/>
                    <a:pt x="114006" y="0"/>
                  </a:cubicBezTo>
                  <a:close/>
                </a:path>
              </a:pathLst>
            </a:custGeom>
            <a:solidFill>
              <a:srgbClr val="FDCC6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28012" cy="294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057056" y="3920892"/>
            <a:ext cx="5017523" cy="2441136"/>
            <a:chOff x="0" y="0"/>
            <a:chExt cx="1321488" cy="642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21488" cy="642933"/>
            </a:xfrm>
            <a:custGeom>
              <a:avLst/>
              <a:gdLst/>
              <a:ahLst/>
              <a:cxnLst/>
              <a:rect l="l" t="t" r="r" b="b"/>
              <a:pathLst>
                <a:path w="1321488" h="642933">
                  <a:moveTo>
                    <a:pt x="47832" y="0"/>
                  </a:moveTo>
                  <a:lnTo>
                    <a:pt x="1273655" y="0"/>
                  </a:lnTo>
                  <a:cubicBezTo>
                    <a:pt x="1300072" y="0"/>
                    <a:pt x="1321488" y="21415"/>
                    <a:pt x="1321488" y="47832"/>
                  </a:cubicBezTo>
                  <a:lnTo>
                    <a:pt x="1321488" y="595101"/>
                  </a:lnTo>
                  <a:cubicBezTo>
                    <a:pt x="1321488" y="621518"/>
                    <a:pt x="1300072" y="642933"/>
                    <a:pt x="1273655" y="642933"/>
                  </a:cubicBezTo>
                  <a:lnTo>
                    <a:pt x="47832" y="642933"/>
                  </a:lnTo>
                  <a:cubicBezTo>
                    <a:pt x="21415" y="642933"/>
                    <a:pt x="0" y="621518"/>
                    <a:pt x="0" y="595101"/>
                  </a:cubicBezTo>
                  <a:lnTo>
                    <a:pt x="0" y="47832"/>
                  </a:lnTo>
                  <a:cubicBezTo>
                    <a:pt x="0" y="21415"/>
                    <a:pt x="21415" y="0"/>
                    <a:pt x="47832" y="0"/>
                  </a:cubicBezTo>
                  <a:close/>
                </a:path>
              </a:pathLst>
            </a:custGeom>
            <a:solidFill>
              <a:srgbClr val="D5EDF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321488" cy="700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631372" y="6813085"/>
            <a:ext cx="865731" cy="902682"/>
            <a:chOff x="0" y="0"/>
            <a:chExt cx="228012" cy="23774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8012" cy="237743"/>
            </a:xfrm>
            <a:custGeom>
              <a:avLst/>
              <a:gdLst/>
              <a:ahLst/>
              <a:cxnLst/>
              <a:rect l="l" t="t" r="r" b="b"/>
              <a:pathLst>
                <a:path w="228012" h="237743">
                  <a:moveTo>
                    <a:pt x="114006" y="0"/>
                  </a:moveTo>
                  <a:lnTo>
                    <a:pt x="114006" y="0"/>
                  </a:lnTo>
                  <a:cubicBezTo>
                    <a:pt x="176969" y="0"/>
                    <a:pt x="228012" y="51042"/>
                    <a:pt x="228012" y="114006"/>
                  </a:cubicBezTo>
                  <a:lnTo>
                    <a:pt x="228012" y="123738"/>
                  </a:lnTo>
                  <a:cubicBezTo>
                    <a:pt x="228012" y="186701"/>
                    <a:pt x="176969" y="237743"/>
                    <a:pt x="114006" y="237743"/>
                  </a:cubicBezTo>
                  <a:lnTo>
                    <a:pt x="114006" y="237743"/>
                  </a:lnTo>
                  <a:cubicBezTo>
                    <a:pt x="51042" y="237743"/>
                    <a:pt x="0" y="186701"/>
                    <a:pt x="0" y="123738"/>
                  </a:cubicBezTo>
                  <a:lnTo>
                    <a:pt x="0" y="114006"/>
                  </a:lnTo>
                  <a:cubicBezTo>
                    <a:pt x="0" y="51042"/>
                    <a:pt x="51042" y="0"/>
                    <a:pt x="114006" y="0"/>
                  </a:cubicBezTo>
                  <a:close/>
                </a:path>
              </a:pathLst>
            </a:custGeom>
            <a:solidFill>
              <a:srgbClr val="FDCC6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28012" cy="294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097052" y="6815124"/>
            <a:ext cx="5017523" cy="2441136"/>
            <a:chOff x="0" y="0"/>
            <a:chExt cx="1321488" cy="64293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21488" cy="642933"/>
            </a:xfrm>
            <a:custGeom>
              <a:avLst/>
              <a:gdLst/>
              <a:ahLst/>
              <a:cxnLst/>
              <a:rect l="l" t="t" r="r" b="b"/>
              <a:pathLst>
                <a:path w="1321488" h="642933">
                  <a:moveTo>
                    <a:pt x="47832" y="0"/>
                  </a:moveTo>
                  <a:lnTo>
                    <a:pt x="1273655" y="0"/>
                  </a:lnTo>
                  <a:cubicBezTo>
                    <a:pt x="1300072" y="0"/>
                    <a:pt x="1321488" y="21415"/>
                    <a:pt x="1321488" y="47832"/>
                  </a:cubicBezTo>
                  <a:lnTo>
                    <a:pt x="1321488" y="595101"/>
                  </a:lnTo>
                  <a:cubicBezTo>
                    <a:pt x="1321488" y="621518"/>
                    <a:pt x="1300072" y="642933"/>
                    <a:pt x="1273655" y="642933"/>
                  </a:cubicBezTo>
                  <a:lnTo>
                    <a:pt x="47832" y="642933"/>
                  </a:lnTo>
                  <a:cubicBezTo>
                    <a:pt x="21415" y="642933"/>
                    <a:pt x="0" y="621518"/>
                    <a:pt x="0" y="595101"/>
                  </a:cubicBezTo>
                  <a:lnTo>
                    <a:pt x="0" y="47832"/>
                  </a:lnTo>
                  <a:cubicBezTo>
                    <a:pt x="0" y="21415"/>
                    <a:pt x="21415" y="0"/>
                    <a:pt x="47832" y="0"/>
                  </a:cubicBezTo>
                  <a:close/>
                </a:path>
              </a:pathLst>
            </a:custGeom>
            <a:solidFill>
              <a:srgbClr val="D5EDF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321488" cy="700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53417" y="3918853"/>
            <a:ext cx="865731" cy="902682"/>
            <a:chOff x="0" y="0"/>
            <a:chExt cx="228012" cy="23774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8012" cy="237743"/>
            </a:xfrm>
            <a:custGeom>
              <a:avLst/>
              <a:gdLst/>
              <a:ahLst/>
              <a:cxnLst/>
              <a:rect l="l" t="t" r="r" b="b"/>
              <a:pathLst>
                <a:path w="228012" h="237743">
                  <a:moveTo>
                    <a:pt x="114006" y="0"/>
                  </a:moveTo>
                  <a:lnTo>
                    <a:pt x="114006" y="0"/>
                  </a:lnTo>
                  <a:cubicBezTo>
                    <a:pt x="176969" y="0"/>
                    <a:pt x="228012" y="51042"/>
                    <a:pt x="228012" y="114006"/>
                  </a:cubicBezTo>
                  <a:lnTo>
                    <a:pt x="228012" y="123738"/>
                  </a:lnTo>
                  <a:cubicBezTo>
                    <a:pt x="228012" y="186701"/>
                    <a:pt x="176969" y="237743"/>
                    <a:pt x="114006" y="237743"/>
                  </a:cubicBezTo>
                  <a:lnTo>
                    <a:pt x="114006" y="237743"/>
                  </a:lnTo>
                  <a:cubicBezTo>
                    <a:pt x="51042" y="237743"/>
                    <a:pt x="0" y="186701"/>
                    <a:pt x="0" y="123738"/>
                  </a:cubicBezTo>
                  <a:lnTo>
                    <a:pt x="0" y="114006"/>
                  </a:lnTo>
                  <a:cubicBezTo>
                    <a:pt x="0" y="51042"/>
                    <a:pt x="51042" y="0"/>
                    <a:pt x="114006" y="0"/>
                  </a:cubicBezTo>
                  <a:close/>
                </a:path>
              </a:pathLst>
            </a:custGeom>
            <a:solidFill>
              <a:srgbClr val="FDCC6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28012" cy="294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719097" y="3920892"/>
            <a:ext cx="5017523" cy="2441136"/>
            <a:chOff x="0" y="0"/>
            <a:chExt cx="1321488" cy="64293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21488" cy="642933"/>
            </a:xfrm>
            <a:custGeom>
              <a:avLst/>
              <a:gdLst/>
              <a:ahLst/>
              <a:cxnLst/>
              <a:rect l="l" t="t" r="r" b="b"/>
              <a:pathLst>
                <a:path w="1321488" h="642933">
                  <a:moveTo>
                    <a:pt x="47832" y="0"/>
                  </a:moveTo>
                  <a:lnTo>
                    <a:pt x="1273655" y="0"/>
                  </a:lnTo>
                  <a:cubicBezTo>
                    <a:pt x="1300072" y="0"/>
                    <a:pt x="1321488" y="21415"/>
                    <a:pt x="1321488" y="47832"/>
                  </a:cubicBezTo>
                  <a:lnTo>
                    <a:pt x="1321488" y="595101"/>
                  </a:lnTo>
                  <a:cubicBezTo>
                    <a:pt x="1321488" y="621518"/>
                    <a:pt x="1300072" y="642933"/>
                    <a:pt x="1273655" y="642933"/>
                  </a:cubicBezTo>
                  <a:lnTo>
                    <a:pt x="47832" y="642933"/>
                  </a:lnTo>
                  <a:cubicBezTo>
                    <a:pt x="21415" y="642933"/>
                    <a:pt x="0" y="621518"/>
                    <a:pt x="0" y="595101"/>
                  </a:cubicBezTo>
                  <a:lnTo>
                    <a:pt x="0" y="47832"/>
                  </a:lnTo>
                  <a:cubicBezTo>
                    <a:pt x="0" y="21415"/>
                    <a:pt x="21415" y="0"/>
                    <a:pt x="47832" y="0"/>
                  </a:cubicBezTo>
                  <a:close/>
                </a:path>
              </a:pathLst>
            </a:custGeom>
            <a:solidFill>
              <a:srgbClr val="D5EDF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1321488" cy="700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253417" y="6815124"/>
            <a:ext cx="865731" cy="902682"/>
            <a:chOff x="0" y="0"/>
            <a:chExt cx="228012" cy="23774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8012" cy="237743"/>
            </a:xfrm>
            <a:custGeom>
              <a:avLst/>
              <a:gdLst/>
              <a:ahLst/>
              <a:cxnLst/>
              <a:rect l="l" t="t" r="r" b="b"/>
              <a:pathLst>
                <a:path w="228012" h="237743">
                  <a:moveTo>
                    <a:pt x="114006" y="0"/>
                  </a:moveTo>
                  <a:lnTo>
                    <a:pt x="114006" y="0"/>
                  </a:lnTo>
                  <a:cubicBezTo>
                    <a:pt x="176969" y="0"/>
                    <a:pt x="228012" y="51042"/>
                    <a:pt x="228012" y="114006"/>
                  </a:cubicBezTo>
                  <a:lnTo>
                    <a:pt x="228012" y="123738"/>
                  </a:lnTo>
                  <a:cubicBezTo>
                    <a:pt x="228012" y="186701"/>
                    <a:pt x="176969" y="237743"/>
                    <a:pt x="114006" y="237743"/>
                  </a:cubicBezTo>
                  <a:lnTo>
                    <a:pt x="114006" y="237743"/>
                  </a:lnTo>
                  <a:cubicBezTo>
                    <a:pt x="51042" y="237743"/>
                    <a:pt x="0" y="186701"/>
                    <a:pt x="0" y="123738"/>
                  </a:cubicBezTo>
                  <a:lnTo>
                    <a:pt x="0" y="114006"/>
                  </a:lnTo>
                  <a:cubicBezTo>
                    <a:pt x="0" y="51042"/>
                    <a:pt x="51042" y="0"/>
                    <a:pt x="114006" y="0"/>
                  </a:cubicBezTo>
                  <a:close/>
                </a:path>
              </a:pathLst>
            </a:custGeom>
            <a:solidFill>
              <a:srgbClr val="FDCC6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228012" cy="294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719097" y="6817164"/>
            <a:ext cx="5017523" cy="2441136"/>
            <a:chOff x="0" y="0"/>
            <a:chExt cx="1321488" cy="64293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321488" cy="642933"/>
            </a:xfrm>
            <a:custGeom>
              <a:avLst/>
              <a:gdLst/>
              <a:ahLst/>
              <a:cxnLst/>
              <a:rect l="l" t="t" r="r" b="b"/>
              <a:pathLst>
                <a:path w="1321488" h="642933">
                  <a:moveTo>
                    <a:pt x="47832" y="0"/>
                  </a:moveTo>
                  <a:lnTo>
                    <a:pt x="1273655" y="0"/>
                  </a:lnTo>
                  <a:cubicBezTo>
                    <a:pt x="1300072" y="0"/>
                    <a:pt x="1321488" y="21415"/>
                    <a:pt x="1321488" y="47832"/>
                  </a:cubicBezTo>
                  <a:lnTo>
                    <a:pt x="1321488" y="595101"/>
                  </a:lnTo>
                  <a:cubicBezTo>
                    <a:pt x="1321488" y="621518"/>
                    <a:pt x="1300072" y="642933"/>
                    <a:pt x="1273655" y="642933"/>
                  </a:cubicBezTo>
                  <a:lnTo>
                    <a:pt x="47832" y="642933"/>
                  </a:lnTo>
                  <a:cubicBezTo>
                    <a:pt x="21415" y="642933"/>
                    <a:pt x="0" y="621518"/>
                    <a:pt x="0" y="595101"/>
                  </a:cubicBezTo>
                  <a:lnTo>
                    <a:pt x="0" y="47832"/>
                  </a:lnTo>
                  <a:cubicBezTo>
                    <a:pt x="0" y="21415"/>
                    <a:pt x="21415" y="0"/>
                    <a:pt x="47832" y="0"/>
                  </a:cubicBezTo>
                  <a:close/>
                </a:path>
              </a:pathLst>
            </a:custGeom>
            <a:solidFill>
              <a:srgbClr val="D5EDF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1321488" cy="700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759142" y="1737970"/>
            <a:ext cx="14769716" cy="1419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016"/>
              </a:lnSpc>
            </a:pPr>
            <a:r>
              <a:rPr lang="en-US" sz="7869" b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Phạm Vi Nghiên Cứu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288528" y="4135938"/>
            <a:ext cx="4554579" cy="156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79"/>
              </a:lnSpc>
            </a:pPr>
            <a:r>
              <a:rPr lang="en-US" sz="2199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Chức năng chính: hiển thị sản phẩm, bộ lọc theo hãng/giá, quản lý giỏ hàng, đặt hàng thanh toán COD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551380" y="4044241"/>
            <a:ext cx="593609" cy="648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04"/>
              </a:lnSpc>
            </a:pPr>
            <a:r>
              <a:rPr lang="en-US" sz="3574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328523" y="7030170"/>
            <a:ext cx="4554579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79"/>
              </a:lnSpc>
            </a:pPr>
            <a:r>
              <a:rPr lang="en-US" sz="2199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Công nghệ sử dụng: Python, Django (MVT), SQLite, Bootstrap, JavaScript &amp; Fetch API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91376" y="6938473"/>
            <a:ext cx="593609" cy="648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04"/>
              </a:lnSpc>
            </a:pPr>
            <a:r>
              <a:rPr lang="en-US" sz="3574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950568" y="4135938"/>
            <a:ext cx="4554579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79"/>
              </a:lnSpc>
            </a:pPr>
            <a:r>
              <a:rPr lang="en-US" sz="2199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Chưa tích hợp thanh toán trực tuyến (VNPay, Momo) hoặc tích hợp đơn vị vận chuyển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13421" y="4044241"/>
            <a:ext cx="593609" cy="648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04"/>
              </a:lnSpc>
            </a:pPr>
            <a:r>
              <a:rPr lang="en-US" sz="3574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950568" y="7032209"/>
            <a:ext cx="4554579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79"/>
              </a:lnSpc>
            </a:pPr>
            <a:r>
              <a:rPr lang="en-US" sz="2199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Môi trường triển khai: Localhost trên máy cá nhân, chưa triển khai lên máy chủ thực tế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213421" y="6940512"/>
            <a:ext cx="593609" cy="648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04"/>
              </a:lnSpc>
            </a:pPr>
            <a:r>
              <a:rPr lang="en-US" sz="3574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sp>
        <p:nvSpPr>
          <p:cNvPr id="37" name="Freeform 37"/>
          <p:cNvSpPr/>
          <p:nvPr/>
        </p:nvSpPr>
        <p:spPr>
          <a:xfrm>
            <a:off x="17090921" y="-1160079"/>
            <a:ext cx="2394159" cy="2320158"/>
          </a:xfrm>
          <a:custGeom>
            <a:avLst/>
            <a:gdLst/>
            <a:ahLst/>
            <a:cxnLst/>
            <a:rect l="l" t="t" r="r" b="b"/>
            <a:pathLst>
              <a:path w="2394159" h="2320158">
                <a:moveTo>
                  <a:pt x="0" y="0"/>
                </a:moveTo>
                <a:lnTo>
                  <a:pt x="2394158" y="0"/>
                </a:lnTo>
                <a:lnTo>
                  <a:pt x="2394158" y="2320158"/>
                </a:lnTo>
                <a:lnTo>
                  <a:pt x="0" y="23201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-1197079" y="7966842"/>
            <a:ext cx="2394159" cy="2320158"/>
          </a:xfrm>
          <a:custGeom>
            <a:avLst/>
            <a:gdLst/>
            <a:ahLst/>
            <a:cxnLst/>
            <a:rect l="l" t="t" r="r" b="b"/>
            <a:pathLst>
              <a:path w="2394159" h="2320158">
                <a:moveTo>
                  <a:pt x="0" y="0"/>
                </a:moveTo>
                <a:lnTo>
                  <a:pt x="2394158" y="0"/>
                </a:lnTo>
                <a:lnTo>
                  <a:pt x="2394158" y="2320158"/>
                </a:lnTo>
                <a:lnTo>
                  <a:pt x="0" y="23201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9" name="Group 39"/>
          <p:cNvGrpSpPr/>
          <p:nvPr/>
        </p:nvGrpSpPr>
        <p:grpSpPr>
          <a:xfrm>
            <a:off x="676994" y="-125357"/>
            <a:ext cx="1646997" cy="1154057"/>
            <a:chOff x="0" y="0"/>
            <a:chExt cx="433777" cy="30394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33777" cy="303949"/>
            </a:xfrm>
            <a:custGeom>
              <a:avLst/>
              <a:gdLst/>
              <a:ahLst/>
              <a:cxnLst/>
              <a:rect l="l" t="t" r="r" b="b"/>
              <a:pathLst>
                <a:path w="433777" h="303949">
                  <a:moveTo>
                    <a:pt x="61108" y="0"/>
                  </a:moveTo>
                  <a:lnTo>
                    <a:pt x="372669" y="0"/>
                  </a:lnTo>
                  <a:cubicBezTo>
                    <a:pt x="388876" y="0"/>
                    <a:pt x="404419" y="6438"/>
                    <a:pt x="415879" y="17898"/>
                  </a:cubicBezTo>
                  <a:cubicBezTo>
                    <a:pt x="427339" y="29358"/>
                    <a:pt x="433777" y="44901"/>
                    <a:pt x="433777" y="61108"/>
                  </a:cubicBezTo>
                  <a:lnTo>
                    <a:pt x="433777" y="242841"/>
                  </a:lnTo>
                  <a:cubicBezTo>
                    <a:pt x="433777" y="276590"/>
                    <a:pt x="406418" y="303949"/>
                    <a:pt x="372669" y="303949"/>
                  </a:cubicBezTo>
                  <a:lnTo>
                    <a:pt x="61108" y="303949"/>
                  </a:lnTo>
                  <a:cubicBezTo>
                    <a:pt x="27359" y="303949"/>
                    <a:pt x="0" y="276590"/>
                    <a:pt x="0" y="242841"/>
                  </a:cubicBezTo>
                  <a:lnTo>
                    <a:pt x="0" y="61108"/>
                  </a:lnTo>
                  <a:cubicBezTo>
                    <a:pt x="0" y="27359"/>
                    <a:pt x="27359" y="0"/>
                    <a:pt x="61108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57150"/>
              <a:ext cx="433777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7090921" y="2994959"/>
            <a:ext cx="1646997" cy="1154057"/>
            <a:chOff x="0" y="0"/>
            <a:chExt cx="433777" cy="30394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33777" cy="303949"/>
            </a:xfrm>
            <a:custGeom>
              <a:avLst/>
              <a:gdLst/>
              <a:ahLst/>
              <a:cxnLst/>
              <a:rect l="l" t="t" r="r" b="b"/>
              <a:pathLst>
                <a:path w="433777" h="303949">
                  <a:moveTo>
                    <a:pt x="61108" y="0"/>
                  </a:moveTo>
                  <a:lnTo>
                    <a:pt x="372669" y="0"/>
                  </a:lnTo>
                  <a:cubicBezTo>
                    <a:pt x="388876" y="0"/>
                    <a:pt x="404419" y="6438"/>
                    <a:pt x="415879" y="17898"/>
                  </a:cubicBezTo>
                  <a:cubicBezTo>
                    <a:pt x="427339" y="29358"/>
                    <a:pt x="433777" y="44901"/>
                    <a:pt x="433777" y="61108"/>
                  </a:cubicBezTo>
                  <a:lnTo>
                    <a:pt x="433777" y="242841"/>
                  </a:lnTo>
                  <a:cubicBezTo>
                    <a:pt x="433777" y="276590"/>
                    <a:pt x="406418" y="303949"/>
                    <a:pt x="372669" y="303949"/>
                  </a:cubicBezTo>
                  <a:lnTo>
                    <a:pt x="61108" y="303949"/>
                  </a:lnTo>
                  <a:cubicBezTo>
                    <a:pt x="27359" y="303949"/>
                    <a:pt x="0" y="276590"/>
                    <a:pt x="0" y="242841"/>
                  </a:cubicBezTo>
                  <a:lnTo>
                    <a:pt x="0" y="61108"/>
                  </a:lnTo>
                  <a:cubicBezTo>
                    <a:pt x="0" y="27359"/>
                    <a:pt x="27359" y="0"/>
                    <a:pt x="61108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57150"/>
              <a:ext cx="433777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93493" y="3733148"/>
            <a:ext cx="865731" cy="902682"/>
            <a:chOff x="0" y="0"/>
            <a:chExt cx="228012" cy="2377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012" cy="237743"/>
            </a:xfrm>
            <a:custGeom>
              <a:avLst/>
              <a:gdLst/>
              <a:ahLst/>
              <a:cxnLst/>
              <a:rect l="l" t="t" r="r" b="b"/>
              <a:pathLst>
                <a:path w="228012" h="237743">
                  <a:moveTo>
                    <a:pt x="114006" y="0"/>
                  </a:moveTo>
                  <a:lnTo>
                    <a:pt x="114006" y="0"/>
                  </a:lnTo>
                  <a:cubicBezTo>
                    <a:pt x="176969" y="0"/>
                    <a:pt x="228012" y="51042"/>
                    <a:pt x="228012" y="114006"/>
                  </a:cubicBezTo>
                  <a:lnTo>
                    <a:pt x="228012" y="123738"/>
                  </a:lnTo>
                  <a:cubicBezTo>
                    <a:pt x="228012" y="186701"/>
                    <a:pt x="176969" y="237743"/>
                    <a:pt x="114006" y="237743"/>
                  </a:cubicBezTo>
                  <a:lnTo>
                    <a:pt x="114006" y="237743"/>
                  </a:lnTo>
                  <a:cubicBezTo>
                    <a:pt x="51042" y="237743"/>
                    <a:pt x="0" y="186701"/>
                    <a:pt x="0" y="123738"/>
                  </a:cubicBezTo>
                  <a:lnTo>
                    <a:pt x="0" y="114006"/>
                  </a:lnTo>
                  <a:cubicBezTo>
                    <a:pt x="0" y="51042"/>
                    <a:pt x="51042" y="0"/>
                    <a:pt x="114006" y="0"/>
                  </a:cubicBezTo>
                  <a:close/>
                </a:path>
              </a:pathLst>
            </a:custGeom>
            <a:solidFill>
              <a:srgbClr val="FDCC6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28012" cy="294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253498" y="3858536"/>
            <a:ext cx="593609" cy="648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04"/>
              </a:lnSpc>
            </a:pPr>
            <a:r>
              <a:rPr lang="en-US" sz="3574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799072" y="3733148"/>
            <a:ext cx="12691965" cy="1645187"/>
            <a:chOff x="0" y="0"/>
            <a:chExt cx="3342740" cy="4333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42740" cy="433300"/>
            </a:xfrm>
            <a:custGeom>
              <a:avLst/>
              <a:gdLst/>
              <a:ahLst/>
              <a:cxnLst/>
              <a:rect l="l" t="t" r="r" b="b"/>
              <a:pathLst>
                <a:path w="3342740" h="433300">
                  <a:moveTo>
                    <a:pt x="18910" y="0"/>
                  </a:moveTo>
                  <a:lnTo>
                    <a:pt x="3323830" y="0"/>
                  </a:lnTo>
                  <a:cubicBezTo>
                    <a:pt x="3334274" y="0"/>
                    <a:pt x="3342740" y="8466"/>
                    <a:pt x="3342740" y="18910"/>
                  </a:cubicBezTo>
                  <a:lnTo>
                    <a:pt x="3342740" y="414391"/>
                  </a:lnTo>
                  <a:cubicBezTo>
                    <a:pt x="3342740" y="424834"/>
                    <a:pt x="3334274" y="433300"/>
                    <a:pt x="3323830" y="433300"/>
                  </a:cubicBezTo>
                  <a:lnTo>
                    <a:pt x="18910" y="433300"/>
                  </a:lnTo>
                  <a:cubicBezTo>
                    <a:pt x="8466" y="433300"/>
                    <a:pt x="0" y="424834"/>
                    <a:pt x="0" y="414391"/>
                  </a:cubicBezTo>
                  <a:lnTo>
                    <a:pt x="0" y="18910"/>
                  </a:lnTo>
                  <a:cubicBezTo>
                    <a:pt x="0" y="8466"/>
                    <a:pt x="8466" y="0"/>
                    <a:pt x="18910" y="0"/>
                  </a:cubicBezTo>
                  <a:close/>
                </a:path>
              </a:pathLst>
            </a:custGeom>
            <a:solidFill>
              <a:srgbClr val="D5EDF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3342740" cy="490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816308" y="6043022"/>
            <a:ext cx="1125287" cy="960073"/>
          </a:xfrm>
          <a:custGeom>
            <a:avLst/>
            <a:gdLst/>
            <a:ahLst/>
            <a:cxnLst/>
            <a:rect l="l" t="t" r="r" b="b"/>
            <a:pathLst>
              <a:path w="1125287" h="960073">
                <a:moveTo>
                  <a:pt x="0" y="0"/>
                </a:moveTo>
                <a:lnTo>
                  <a:pt x="1125287" y="0"/>
                </a:lnTo>
                <a:lnTo>
                  <a:pt x="1125287" y="960073"/>
                </a:lnTo>
                <a:lnTo>
                  <a:pt x="0" y="960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36993" y="3757771"/>
            <a:ext cx="1155497" cy="1162013"/>
          </a:xfrm>
          <a:custGeom>
            <a:avLst/>
            <a:gdLst/>
            <a:ahLst/>
            <a:cxnLst/>
            <a:rect l="l" t="t" r="r" b="b"/>
            <a:pathLst>
              <a:path w="1155497" h="1162013">
                <a:moveTo>
                  <a:pt x="0" y="0"/>
                </a:moveTo>
                <a:lnTo>
                  <a:pt x="1155497" y="0"/>
                </a:lnTo>
                <a:lnTo>
                  <a:pt x="1155497" y="1162013"/>
                </a:lnTo>
                <a:lnTo>
                  <a:pt x="0" y="11620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2433857" y="1701080"/>
            <a:ext cx="13420286" cy="1419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016"/>
              </a:lnSpc>
            </a:pPr>
            <a:r>
              <a:rPr lang="en-US" sz="7869" b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Công Nghệ Sử Dụng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24987" y="3940744"/>
            <a:ext cx="11840135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79"/>
              </a:lnSpc>
            </a:pPr>
            <a:r>
              <a:rPr lang="en-US" sz="2199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Python &amp; Django (MVT): Xử lý logic nghiệp vụ theo kiến trúc Model–View–Template. SQLite: Hệ quản trị cơ sở dữ liệu nhẹ, lưu trữ dạng file, phù hợp môi trường localhost.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3333489" y="5883160"/>
            <a:ext cx="865731" cy="902682"/>
            <a:chOff x="0" y="0"/>
            <a:chExt cx="228012" cy="23774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8012" cy="237743"/>
            </a:xfrm>
            <a:custGeom>
              <a:avLst/>
              <a:gdLst/>
              <a:ahLst/>
              <a:cxnLst/>
              <a:rect l="l" t="t" r="r" b="b"/>
              <a:pathLst>
                <a:path w="228012" h="237743">
                  <a:moveTo>
                    <a:pt x="114006" y="0"/>
                  </a:moveTo>
                  <a:lnTo>
                    <a:pt x="114006" y="0"/>
                  </a:lnTo>
                  <a:cubicBezTo>
                    <a:pt x="176969" y="0"/>
                    <a:pt x="228012" y="51042"/>
                    <a:pt x="228012" y="114006"/>
                  </a:cubicBezTo>
                  <a:lnTo>
                    <a:pt x="228012" y="123738"/>
                  </a:lnTo>
                  <a:cubicBezTo>
                    <a:pt x="228012" y="186701"/>
                    <a:pt x="176969" y="237743"/>
                    <a:pt x="114006" y="237743"/>
                  </a:cubicBezTo>
                  <a:lnTo>
                    <a:pt x="114006" y="237743"/>
                  </a:lnTo>
                  <a:cubicBezTo>
                    <a:pt x="51042" y="237743"/>
                    <a:pt x="0" y="186701"/>
                    <a:pt x="0" y="123738"/>
                  </a:cubicBezTo>
                  <a:lnTo>
                    <a:pt x="0" y="114006"/>
                  </a:lnTo>
                  <a:cubicBezTo>
                    <a:pt x="0" y="51042"/>
                    <a:pt x="51042" y="0"/>
                    <a:pt x="114006" y="0"/>
                  </a:cubicBezTo>
                  <a:close/>
                </a:path>
              </a:pathLst>
            </a:custGeom>
            <a:solidFill>
              <a:srgbClr val="FDCC6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28012" cy="294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293493" y="6008548"/>
            <a:ext cx="593609" cy="648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04"/>
              </a:lnSpc>
            </a:pPr>
            <a:r>
              <a:rPr lang="en-US" sz="3574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3839067" y="5883160"/>
            <a:ext cx="12691965" cy="1645187"/>
            <a:chOff x="0" y="0"/>
            <a:chExt cx="3342740" cy="4333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342740" cy="433300"/>
            </a:xfrm>
            <a:custGeom>
              <a:avLst/>
              <a:gdLst/>
              <a:ahLst/>
              <a:cxnLst/>
              <a:rect l="l" t="t" r="r" b="b"/>
              <a:pathLst>
                <a:path w="3342740" h="433300">
                  <a:moveTo>
                    <a:pt x="18910" y="0"/>
                  </a:moveTo>
                  <a:lnTo>
                    <a:pt x="3323830" y="0"/>
                  </a:lnTo>
                  <a:cubicBezTo>
                    <a:pt x="3334274" y="0"/>
                    <a:pt x="3342740" y="8466"/>
                    <a:pt x="3342740" y="18910"/>
                  </a:cubicBezTo>
                  <a:lnTo>
                    <a:pt x="3342740" y="414391"/>
                  </a:lnTo>
                  <a:cubicBezTo>
                    <a:pt x="3342740" y="424834"/>
                    <a:pt x="3334274" y="433300"/>
                    <a:pt x="3323830" y="433300"/>
                  </a:cubicBezTo>
                  <a:lnTo>
                    <a:pt x="18910" y="433300"/>
                  </a:lnTo>
                  <a:cubicBezTo>
                    <a:pt x="8466" y="433300"/>
                    <a:pt x="0" y="424834"/>
                    <a:pt x="0" y="414391"/>
                  </a:cubicBezTo>
                  <a:lnTo>
                    <a:pt x="0" y="18910"/>
                  </a:lnTo>
                  <a:cubicBezTo>
                    <a:pt x="0" y="8466"/>
                    <a:pt x="8466" y="0"/>
                    <a:pt x="18910" y="0"/>
                  </a:cubicBezTo>
                  <a:close/>
                </a:path>
              </a:pathLst>
            </a:custGeom>
            <a:solidFill>
              <a:srgbClr val="D5EDF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3342740" cy="490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264983" y="6090756"/>
            <a:ext cx="11840135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79"/>
              </a:lnSpc>
            </a:pPr>
            <a:r>
              <a:rPr lang="en-US" sz="2199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Bootstrap: Thiết kế giao diện responsive, hiện đại, tương thích đa thiết bị. JavaScript &amp; Fetch API: Xử lý dữ liệu bất đồng bộ, cập nhật giao diện không tải lại trang.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5854143" y="-577028"/>
            <a:ext cx="1082147" cy="1154057"/>
            <a:chOff x="0" y="0"/>
            <a:chExt cx="285010" cy="30394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-265868" y="8958151"/>
            <a:ext cx="1709273" cy="1718419"/>
            <a:chOff x="0" y="0"/>
            <a:chExt cx="450179" cy="4525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50179" cy="452588"/>
            </a:xfrm>
            <a:custGeom>
              <a:avLst/>
              <a:gdLst/>
              <a:ahLst/>
              <a:cxnLst/>
              <a:rect l="l" t="t" r="r" b="b"/>
              <a:pathLst>
                <a:path w="450179" h="452588">
                  <a:moveTo>
                    <a:pt x="58882" y="0"/>
                  </a:moveTo>
                  <a:lnTo>
                    <a:pt x="391297" y="0"/>
                  </a:lnTo>
                  <a:cubicBezTo>
                    <a:pt x="423817" y="0"/>
                    <a:pt x="450179" y="26362"/>
                    <a:pt x="450179" y="58882"/>
                  </a:cubicBezTo>
                  <a:lnTo>
                    <a:pt x="450179" y="393706"/>
                  </a:lnTo>
                  <a:cubicBezTo>
                    <a:pt x="450179" y="409322"/>
                    <a:pt x="443975" y="424299"/>
                    <a:pt x="432933" y="435342"/>
                  </a:cubicBezTo>
                  <a:cubicBezTo>
                    <a:pt x="421890" y="446384"/>
                    <a:pt x="406913" y="452588"/>
                    <a:pt x="391297" y="452588"/>
                  </a:cubicBezTo>
                  <a:lnTo>
                    <a:pt x="58882" y="452588"/>
                  </a:lnTo>
                  <a:cubicBezTo>
                    <a:pt x="43265" y="452588"/>
                    <a:pt x="28289" y="446384"/>
                    <a:pt x="17246" y="435342"/>
                  </a:cubicBezTo>
                  <a:cubicBezTo>
                    <a:pt x="6204" y="424299"/>
                    <a:pt x="0" y="409322"/>
                    <a:pt x="0" y="393706"/>
                  </a:cubicBezTo>
                  <a:lnTo>
                    <a:pt x="0" y="58882"/>
                  </a:lnTo>
                  <a:cubicBezTo>
                    <a:pt x="0" y="43265"/>
                    <a:pt x="6204" y="28289"/>
                    <a:pt x="17246" y="17246"/>
                  </a:cubicBezTo>
                  <a:cubicBezTo>
                    <a:pt x="28289" y="6204"/>
                    <a:pt x="43265" y="0"/>
                    <a:pt x="58882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450179" cy="5097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673411" y="8404647"/>
            <a:ext cx="1051762" cy="1125988"/>
            <a:chOff x="0" y="0"/>
            <a:chExt cx="277007" cy="29655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77007" cy="296557"/>
            </a:xfrm>
            <a:custGeom>
              <a:avLst/>
              <a:gdLst/>
              <a:ahLst/>
              <a:cxnLst/>
              <a:rect l="l" t="t" r="r" b="b"/>
              <a:pathLst>
                <a:path w="277007" h="296557">
                  <a:moveTo>
                    <a:pt x="95692" y="0"/>
                  </a:moveTo>
                  <a:lnTo>
                    <a:pt x="181316" y="0"/>
                  </a:lnTo>
                  <a:cubicBezTo>
                    <a:pt x="234165" y="0"/>
                    <a:pt x="277007" y="42843"/>
                    <a:pt x="277007" y="95692"/>
                  </a:cubicBezTo>
                  <a:lnTo>
                    <a:pt x="277007" y="200865"/>
                  </a:lnTo>
                  <a:cubicBezTo>
                    <a:pt x="277007" y="226244"/>
                    <a:pt x="266926" y="250583"/>
                    <a:pt x="248980" y="268529"/>
                  </a:cubicBezTo>
                  <a:cubicBezTo>
                    <a:pt x="231034" y="286475"/>
                    <a:pt x="206695" y="296557"/>
                    <a:pt x="181316" y="296557"/>
                  </a:cubicBezTo>
                  <a:lnTo>
                    <a:pt x="95692" y="296557"/>
                  </a:lnTo>
                  <a:cubicBezTo>
                    <a:pt x="42843" y="296557"/>
                    <a:pt x="0" y="253714"/>
                    <a:pt x="0" y="200865"/>
                  </a:cubicBezTo>
                  <a:lnTo>
                    <a:pt x="0" y="95692"/>
                  </a:lnTo>
                  <a:cubicBezTo>
                    <a:pt x="0" y="42843"/>
                    <a:pt x="42843" y="0"/>
                    <a:pt x="95692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277007" cy="353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993205" y="-234533"/>
            <a:ext cx="1302807" cy="1125988"/>
            <a:chOff x="0" y="0"/>
            <a:chExt cx="343126" cy="29655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43126" cy="296557"/>
            </a:xfrm>
            <a:custGeom>
              <a:avLst/>
              <a:gdLst/>
              <a:ahLst/>
              <a:cxnLst/>
              <a:rect l="l" t="t" r="r" b="b"/>
              <a:pathLst>
                <a:path w="343126" h="296557">
                  <a:moveTo>
                    <a:pt x="77252" y="0"/>
                  </a:moveTo>
                  <a:lnTo>
                    <a:pt x="265874" y="0"/>
                  </a:lnTo>
                  <a:cubicBezTo>
                    <a:pt x="308539" y="0"/>
                    <a:pt x="343126" y="34587"/>
                    <a:pt x="343126" y="77252"/>
                  </a:cubicBezTo>
                  <a:lnTo>
                    <a:pt x="343126" y="219304"/>
                  </a:lnTo>
                  <a:cubicBezTo>
                    <a:pt x="343126" y="239793"/>
                    <a:pt x="334987" y="259442"/>
                    <a:pt x="320499" y="273930"/>
                  </a:cubicBezTo>
                  <a:cubicBezTo>
                    <a:pt x="306012" y="288417"/>
                    <a:pt x="286362" y="296557"/>
                    <a:pt x="265874" y="296557"/>
                  </a:cubicBezTo>
                  <a:lnTo>
                    <a:pt x="77252" y="296557"/>
                  </a:lnTo>
                  <a:cubicBezTo>
                    <a:pt x="34587" y="296557"/>
                    <a:pt x="0" y="261969"/>
                    <a:pt x="0" y="219304"/>
                  </a:cubicBezTo>
                  <a:lnTo>
                    <a:pt x="0" y="77252"/>
                  </a:lnTo>
                  <a:cubicBezTo>
                    <a:pt x="0" y="34587"/>
                    <a:pt x="34587" y="0"/>
                    <a:pt x="77252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57150"/>
              <a:ext cx="343126" cy="353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7746926" y="5180443"/>
            <a:ext cx="1082147" cy="1154057"/>
            <a:chOff x="0" y="0"/>
            <a:chExt cx="285010" cy="30394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Freeform 36"/>
          <p:cNvSpPr/>
          <p:nvPr/>
        </p:nvSpPr>
        <p:spPr>
          <a:xfrm>
            <a:off x="1236401" y="-977375"/>
            <a:ext cx="2017096" cy="1954750"/>
          </a:xfrm>
          <a:custGeom>
            <a:avLst/>
            <a:gdLst/>
            <a:ahLst/>
            <a:cxnLst/>
            <a:rect l="l" t="t" r="r" b="b"/>
            <a:pathLst>
              <a:path w="2017096" h="1954750">
                <a:moveTo>
                  <a:pt x="0" y="0"/>
                </a:moveTo>
                <a:lnTo>
                  <a:pt x="2017097" y="0"/>
                </a:lnTo>
                <a:lnTo>
                  <a:pt x="2017097" y="1954750"/>
                </a:lnTo>
                <a:lnTo>
                  <a:pt x="0" y="1954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14378121" y="9258300"/>
            <a:ext cx="2017096" cy="1954750"/>
          </a:xfrm>
          <a:custGeom>
            <a:avLst/>
            <a:gdLst/>
            <a:ahLst/>
            <a:cxnLst/>
            <a:rect l="l" t="t" r="r" b="b"/>
            <a:pathLst>
              <a:path w="2017096" h="1954750">
                <a:moveTo>
                  <a:pt x="0" y="0"/>
                </a:moveTo>
                <a:lnTo>
                  <a:pt x="2017096" y="0"/>
                </a:lnTo>
                <a:lnTo>
                  <a:pt x="2017096" y="1954750"/>
                </a:lnTo>
                <a:lnTo>
                  <a:pt x="0" y="1954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94321" y="-928973"/>
            <a:ext cx="2123021" cy="2057400"/>
          </a:xfrm>
          <a:custGeom>
            <a:avLst/>
            <a:gdLst/>
            <a:ahLst/>
            <a:cxnLst/>
            <a:rect l="l" t="t" r="r" b="b"/>
            <a:pathLst>
              <a:path w="2123021" h="2057400">
                <a:moveTo>
                  <a:pt x="0" y="0"/>
                </a:moveTo>
                <a:lnTo>
                  <a:pt x="2123021" y="0"/>
                </a:lnTo>
                <a:lnTo>
                  <a:pt x="2123021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72777" y="7759211"/>
            <a:ext cx="1082147" cy="1154057"/>
            <a:chOff x="0" y="0"/>
            <a:chExt cx="285010" cy="3039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90826" y="-427736"/>
            <a:ext cx="1082147" cy="1154057"/>
            <a:chOff x="0" y="0"/>
            <a:chExt cx="285010" cy="3039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070131" y="8508585"/>
            <a:ext cx="4435738" cy="2377137"/>
          </a:xfrm>
          <a:custGeom>
            <a:avLst/>
            <a:gdLst/>
            <a:ahLst/>
            <a:cxnLst/>
            <a:rect l="l" t="t" r="r" b="b"/>
            <a:pathLst>
              <a:path w="4435738" h="2377137">
                <a:moveTo>
                  <a:pt x="0" y="0"/>
                </a:moveTo>
                <a:lnTo>
                  <a:pt x="4435738" y="0"/>
                </a:lnTo>
                <a:lnTo>
                  <a:pt x="4435738" y="2377137"/>
                </a:lnTo>
                <a:lnTo>
                  <a:pt x="0" y="23771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6808333" y="538582"/>
            <a:ext cx="6538984" cy="9209837"/>
          </a:xfrm>
          <a:custGeom>
            <a:avLst/>
            <a:gdLst/>
            <a:ahLst/>
            <a:cxnLst/>
            <a:rect l="l" t="t" r="r" b="b"/>
            <a:pathLst>
              <a:path w="6538984" h="9209837">
                <a:moveTo>
                  <a:pt x="0" y="0"/>
                </a:moveTo>
                <a:lnTo>
                  <a:pt x="6538984" y="0"/>
                </a:lnTo>
                <a:lnTo>
                  <a:pt x="6538984" y="9209836"/>
                </a:lnTo>
                <a:lnTo>
                  <a:pt x="0" y="9209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28700" y="1095375"/>
            <a:ext cx="5971020" cy="2123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47"/>
              </a:lnSpc>
            </a:pPr>
            <a:r>
              <a:rPr lang="en-US" sz="7869" b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Sơ Đồ</a:t>
            </a:r>
          </a:p>
          <a:p>
            <a:pPr marL="0" lvl="0" indent="0" algn="l">
              <a:lnSpc>
                <a:spcPts val="7947"/>
              </a:lnSpc>
            </a:pPr>
            <a:r>
              <a:rPr lang="en-US" sz="7869" b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Use Case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07490" y="-271971"/>
            <a:ext cx="6813916" cy="10558971"/>
            <a:chOff x="0" y="0"/>
            <a:chExt cx="812800" cy="12595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259530"/>
            </a:xfrm>
            <a:custGeom>
              <a:avLst/>
              <a:gdLst/>
              <a:ahLst/>
              <a:cxnLst/>
              <a:rect l="l" t="t" r="r" b="b"/>
              <a:pathLst>
                <a:path w="812800" h="1259530">
                  <a:moveTo>
                    <a:pt x="0" y="0"/>
                  </a:moveTo>
                  <a:lnTo>
                    <a:pt x="812800" y="0"/>
                  </a:lnTo>
                  <a:lnTo>
                    <a:pt x="812800" y="1259530"/>
                  </a:lnTo>
                  <a:lnTo>
                    <a:pt x="0" y="1259530"/>
                  </a:lnTo>
                  <a:close/>
                </a:path>
              </a:pathLst>
            </a:custGeom>
            <a:blipFill>
              <a:blip r:embed="rId2"/>
              <a:stretch>
                <a:fillRect l="-2202" r="-220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-1507853" y="9258300"/>
            <a:ext cx="5073107" cy="1651066"/>
          </a:xfrm>
          <a:custGeom>
            <a:avLst/>
            <a:gdLst/>
            <a:ahLst/>
            <a:cxnLst/>
            <a:rect l="l" t="t" r="r" b="b"/>
            <a:pathLst>
              <a:path w="5073107" h="1651066">
                <a:moveTo>
                  <a:pt x="0" y="0"/>
                </a:moveTo>
                <a:lnTo>
                  <a:pt x="5073106" y="0"/>
                </a:lnTo>
                <a:lnTo>
                  <a:pt x="5073106" y="1651066"/>
                </a:lnTo>
                <a:lnTo>
                  <a:pt x="0" y="16510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8522449" y="-1322704"/>
            <a:ext cx="2420186" cy="2456884"/>
            <a:chOff x="0" y="0"/>
            <a:chExt cx="637415" cy="6470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7415" cy="647081"/>
            </a:xfrm>
            <a:custGeom>
              <a:avLst/>
              <a:gdLst/>
              <a:ahLst/>
              <a:cxnLst/>
              <a:rect l="l" t="t" r="r" b="b"/>
              <a:pathLst>
                <a:path w="637415" h="647081">
                  <a:moveTo>
                    <a:pt x="41586" y="0"/>
                  </a:moveTo>
                  <a:lnTo>
                    <a:pt x="595830" y="0"/>
                  </a:lnTo>
                  <a:cubicBezTo>
                    <a:pt x="606859" y="0"/>
                    <a:pt x="617436" y="4381"/>
                    <a:pt x="625235" y="12180"/>
                  </a:cubicBezTo>
                  <a:cubicBezTo>
                    <a:pt x="633034" y="19979"/>
                    <a:pt x="637415" y="30556"/>
                    <a:pt x="637415" y="41586"/>
                  </a:cubicBezTo>
                  <a:lnTo>
                    <a:pt x="637415" y="605495"/>
                  </a:lnTo>
                  <a:cubicBezTo>
                    <a:pt x="637415" y="628462"/>
                    <a:pt x="618797" y="647081"/>
                    <a:pt x="595830" y="647081"/>
                  </a:cubicBezTo>
                  <a:lnTo>
                    <a:pt x="41586" y="647081"/>
                  </a:lnTo>
                  <a:cubicBezTo>
                    <a:pt x="18619" y="647081"/>
                    <a:pt x="0" y="628462"/>
                    <a:pt x="0" y="605495"/>
                  </a:cubicBezTo>
                  <a:lnTo>
                    <a:pt x="0" y="41586"/>
                  </a:lnTo>
                  <a:cubicBezTo>
                    <a:pt x="0" y="18619"/>
                    <a:pt x="18619" y="0"/>
                    <a:pt x="41586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637415" cy="704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458497" y="6305133"/>
            <a:ext cx="1082147" cy="1154057"/>
            <a:chOff x="0" y="0"/>
            <a:chExt cx="285010" cy="3039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252439" y="9506804"/>
            <a:ext cx="1082147" cy="1154057"/>
            <a:chOff x="0" y="0"/>
            <a:chExt cx="285010" cy="3039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2267246" y="1488292"/>
            <a:ext cx="13753508" cy="7839500"/>
          </a:xfrm>
          <a:custGeom>
            <a:avLst/>
            <a:gdLst/>
            <a:ahLst/>
            <a:cxnLst/>
            <a:rect l="l" t="t" r="r" b="b"/>
            <a:pathLst>
              <a:path w="13753508" h="7839500">
                <a:moveTo>
                  <a:pt x="0" y="0"/>
                </a:moveTo>
                <a:lnTo>
                  <a:pt x="13753508" y="0"/>
                </a:lnTo>
                <a:lnTo>
                  <a:pt x="13753508" y="7839500"/>
                </a:lnTo>
                <a:lnTo>
                  <a:pt x="0" y="7839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254202" y="132078"/>
            <a:ext cx="14384714" cy="1177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8"/>
              </a:lnSpc>
            </a:pPr>
            <a:r>
              <a:rPr lang="en-US" sz="7869" b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Kiến Trúc Phần Mềm MVT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68887" y="-2339374"/>
            <a:ext cx="4248816" cy="4807107"/>
          </a:xfrm>
          <a:custGeom>
            <a:avLst/>
            <a:gdLst/>
            <a:ahLst/>
            <a:cxnLst/>
            <a:rect l="l" t="t" r="r" b="b"/>
            <a:pathLst>
              <a:path w="4248816" h="4807107">
                <a:moveTo>
                  <a:pt x="0" y="0"/>
                </a:moveTo>
                <a:lnTo>
                  <a:pt x="4248815" y="0"/>
                </a:lnTo>
                <a:lnTo>
                  <a:pt x="4248815" y="4807108"/>
                </a:lnTo>
                <a:lnTo>
                  <a:pt x="0" y="48071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958381" y="8044342"/>
            <a:ext cx="4428291" cy="4526552"/>
          </a:xfrm>
          <a:custGeom>
            <a:avLst/>
            <a:gdLst/>
            <a:ahLst/>
            <a:cxnLst/>
            <a:rect l="l" t="t" r="r" b="b"/>
            <a:pathLst>
              <a:path w="4428291" h="4526552">
                <a:moveTo>
                  <a:pt x="0" y="0"/>
                </a:moveTo>
                <a:lnTo>
                  <a:pt x="4428291" y="0"/>
                </a:lnTo>
                <a:lnTo>
                  <a:pt x="4428291" y="4526552"/>
                </a:lnTo>
                <a:lnTo>
                  <a:pt x="0" y="45265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240854" y="-501900"/>
            <a:ext cx="2420186" cy="1858288"/>
            <a:chOff x="0" y="0"/>
            <a:chExt cx="637415" cy="4894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7415" cy="489426"/>
            </a:xfrm>
            <a:custGeom>
              <a:avLst/>
              <a:gdLst/>
              <a:ahLst/>
              <a:cxnLst/>
              <a:rect l="l" t="t" r="r" b="b"/>
              <a:pathLst>
                <a:path w="637415" h="489426">
                  <a:moveTo>
                    <a:pt x="41586" y="0"/>
                  </a:moveTo>
                  <a:lnTo>
                    <a:pt x="595830" y="0"/>
                  </a:lnTo>
                  <a:cubicBezTo>
                    <a:pt x="606859" y="0"/>
                    <a:pt x="617436" y="4381"/>
                    <a:pt x="625235" y="12180"/>
                  </a:cubicBezTo>
                  <a:cubicBezTo>
                    <a:pt x="633034" y="19979"/>
                    <a:pt x="637415" y="30556"/>
                    <a:pt x="637415" y="41586"/>
                  </a:cubicBezTo>
                  <a:lnTo>
                    <a:pt x="637415" y="447840"/>
                  </a:lnTo>
                  <a:cubicBezTo>
                    <a:pt x="637415" y="470807"/>
                    <a:pt x="618797" y="489426"/>
                    <a:pt x="595830" y="489426"/>
                  </a:cubicBezTo>
                  <a:lnTo>
                    <a:pt x="41586" y="489426"/>
                  </a:lnTo>
                  <a:cubicBezTo>
                    <a:pt x="18619" y="489426"/>
                    <a:pt x="0" y="470807"/>
                    <a:pt x="0" y="447840"/>
                  </a:cubicBezTo>
                  <a:lnTo>
                    <a:pt x="0" y="41586"/>
                  </a:lnTo>
                  <a:cubicBezTo>
                    <a:pt x="0" y="18619"/>
                    <a:pt x="18619" y="0"/>
                    <a:pt x="41586" y="0"/>
                  </a:cubicBezTo>
                  <a:close/>
                </a:path>
              </a:pathLst>
            </a:custGeom>
            <a:solidFill>
              <a:srgbClr val="D5EDF1">
                <a:alpha val="22745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637415" cy="546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427889" y="9258300"/>
            <a:ext cx="1821590" cy="1858288"/>
            <a:chOff x="0" y="0"/>
            <a:chExt cx="479760" cy="4894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79760" cy="489426"/>
            </a:xfrm>
            <a:custGeom>
              <a:avLst/>
              <a:gdLst/>
              <a:ahLst/>
              <a:cxnLst/>
              <a:rect l="l" t="t" r="r" b="b"/>
              <a:pathLst>
                <a:path w="479760" h="489426">
                  <a:moveTo>
                    <a:pt x="55251" y="0"/>
                  </a:moveTo>
                  <a:lnTo>
                    <a:pt x="424509" y="0"/>
                  </a:lnTo>
                  <a:cubicBezTo>
                    <a:pt x="455024" y="0"/>
                    <a:pt x="479760" y="24737"/>
                    <a:pt x="479760" y="55251"/>
                  </a:cubicBezTo>
                  <a:lnTo>
                    <a:pt x="479760" y="434174"/>
                  </a:lnTo>
                  <a:cubicBezTo>
                    <a:pt x="479760" y="464689"/>
                    <a:pt x="455024" y="489426"/>
                    <a:pt x="424509" y="489426"/>
                  </a:cubicBezTo>
                  <a:lnTo>
                    <a:pt x="55251" y="489426"/>
                  </a:lnTo>
                  <a:cubicBezTo>
                    <a:pt x="24737" y="489426"/>
                    <a:pt x="0" y="464689"/>
                    <a:pt x="0" y="434174"/>
                  </a:cubicBezTo>
                  <a:lnTo>
                    <a:pt x="0" y="55251"/>
                  </a:lnTo>
                  <a:cubicBezTo>
                    <a:pt x="0" y="24737"/>
                    <a:pt x="24737" y="0"/>
                    <a:pt x="55251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479760" cy="546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604324" y="1128256"/>
            <a:ext cx="1082147" cy="1154057"/>
            <a:chOff x="0" y="0"/>
            <a:chExt cx="285010" cy="30394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22745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925683" y="8606364"/>
            <a:ext cx="1082147" cy="1154057"/>
            <a:chOff x="0" y="0"/>
            <a:chExt cx="285010" cy="30394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22745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3535719" y="1128256"/>
            <a:ext cx="11216561" cy="8496545"/>
          </a:xfrm>
          <a:custGeom>
            <a:avLst/>
            <a:gdLst/>
            <a:ahLst/>
            <a:cxnLst/>
            <a:rect l="l" t="t" r="r" b="b"/>
            <a:pathLst>
              <a:path w="11216561" h="8496545">
                <a:moveTo>
                  <a:pt x="0" y="0"/>
                </a:moveTo>
                <a:lnTo>
                  <a:pt x="11216562" y="0"/>
                </a:lnTo>
                <a:lnTo>
                  <a:pt x="11216562" y="8496545"/>
                </a:lnTo>
                <a:lnTo>
                  <a:pt x="0" y="84965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5356437" y="379648"/>
            <a:ext cx="7575124" cy="6401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303"/>
              </a:lnSpc>
            </a:pPr>
            <a:r>
              <a:rPr lang="en-US" sz="3788" b="1" dirty="0" err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Thiết</a:t>
            </a:r>
            <a:r>
              <a:rPr lang="en-US" sz="3788" b="1" dirty="0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3788" b="1" dirty="0" err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Kế</a:t>
            </a:r>
            <a:r>
              <a:rPr lang="en-US" sz="3788" b="1" dirty="0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3788" b="1" dirty="0" err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Cơ</a:t>
            </a:r>
            <a:r>
              <a:rPr lang="en-US" sz="3788" b="1" dirty="0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3788" b="1" dirty="0" err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Sở</a:t>
            </a:r>
            <a:r>
              <a:rPr lang="en-US" sz="3788" b="1" dirty="0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3788" b="1" dirty="0" err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Dữ</a:t>
            </a:r>
            <a:r>
              <a:rPr lang="en-US" sz="3788" b="1" dirty="0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 Liệu Chi </a:t>
            </a:r>
            <a:r>
              <a:rPr lang="en-US" sz="3788" b="1" dirty="0" err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Tiết</a:t>
            </a:r>
            <a:endParaRPr lang="en-US" sz="3788" b="1" dirty="0">
              <a:solidFill>
                <a:srgbClr val="1D2159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197079" y="384937"/>
            <a:ext cx="2394159" cy="2320158"/>
          </a:xfrm>
          <a:custGeom>
            <a:avLst/>
            <a:gdLst/>
            <a:ahLst/>
            <a:cxnLst/>
            <a:rect l="l" t="t" r="r" b="b"/>
            <a:pathLst>
              <a:path w="2394159" h="2320158">
                <a:moveTo>
                  <a:pt x="0" y="0"/>
                </a:moveTo>
                <a:lnTo>
                  <a:pt x="2394158" y="0"/>
                </a:lnTo>
                <a:lnTo>
                  <a:pt x="2394158" y="2320158"/>
                </a:lnTo>
                <a:lnTo>
                  <a:pt x="0" y="23201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7090921" y="7568634"/>
            <a:ext cx="2394159" cy="2320158"/>
          </a:xfrm>
          <a:custGeom>
            <a:avLst/>
            <a:gdLst/>
            <a:ahLst/>
            <a:cxnLst/>
            <a:rect l="l" t="t" r="r" b="b"/>
            <a:pathLst>
              <a:path w="2394159" h="2320158">
                <a:moveTo>
                  <a:pt x="0" y="0"/>
                </a:moveTo>
                <a:lnTo>
                  <a:pt x="2394158" y="0"/>
                </a:lnTo>
                <a:lnTo>
                  <a:pt x="2394158" y="2320158"/>
                </a:lnTo>
                <a:lnTo>
                  <a:pt x="0" y="23201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3019860" y="1213790"/>
            <a:ext cx="12248280" cy="8328830"/>
          </a:xfrm>
          <a:custGeom>
            <a:avLst/>
            <a:gdLst/>
            <a:ahLst/>
            <a:cxnLst/>
            <a:rect l="l" t="t" r="r" b="b"/>
            <a:pathLst>
              <a:path w="12248280" h="8328830">
                <a:moveTo>
                  <a:pt x="0" y="0"/>
                </a:moveTo>
                <a:lnTo>
                  <a:pt x="12248280" y="0"/>
                </a:lnTo>
                <a:lnTo>
                  <a:pt x="12248280" y="8328830"/>
                </a:lnTo>
                <a:lnTo>
                  <a:pt x="0" y="8328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433857" y="51335"/>
            <a:ext cx="13420286" cy="97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54"/>
              </a:lnSpc>
            </a:pPr>
            <a:r>
              <a:rPr lang="en-US" sz="5396" b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Sơ Đồ DFD Mức 1 – Phân Rã Chức Năng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07853" y="9258300"/>
            <a:ext cx="5073107" cy="1651066"/>
          </a:xfrm>
          <a:custGeom>
            <a:avLst/>
            <a:gdLst/>
            <a:ahLst/>
            <a:cxnLst/>
            <a:rect l="l" t="t" r="r" b="b"/>
            <a:pathLst>
              <a:path w="5073107" h="1651066">
                <a:moveTo>
                  <a:pt x="0" y="0"/>
                </a:moveTo>
                <a:lnTo>
                  <a:pt x="5073106" y="0"/>
                </a:lnTo>
                <a:lnTo>
                  <a:pt x="5073106" y="1651066"/>
                </a:lnTo>
                <a:lnTo>
                  <a:pt x="0" y="16510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522449" y="-1322704"/>
            <a:ext cx="2420186" cy="2456884"/>
            <a:chOff x="0" y="0"/>
            <a:chExt cx="637415" cy="64708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7415" cy="647081"/>
            </a:xfrm>
            <a:custGeom>
              <a:avLst/>
              <a:gdLst/>
              <a:ahLst/>
              <a:cxnLst/>
              <a:rect l="l" t="t" r="r" b="b"/>
              <a:pathLst>
                <a:path w="637415" h="647081">
                  <a:moveTo>
                    <a:pt x="41586" y="0"/>
                  </a:moveTo>
                  <a:lnTo>
                    <a:pt x="595830" y="0"/>
                  </a:lnTo>
                  <a:cubicBezTo>
                    <a:pt x="606859" y="0"/>
                    <a:pt x="617436" y="4381"/>
                    <a:pt x="625235" y="12180"/>
                  </a:cubicBezTo>
                  <a:cubicBezTo>
                    <a:pt x="633034" y="19979"/>
                    <a:pt x="637415" y="30556"/>
                    <a:pt x="637415" y="41586"/>
                  </a:cubicBezTo>
                  <a:lnTo>
                    <a:pt x="637415" y="605495"/>
                  </a:lnTo>
                  <a:cubicBezTo>
                    <a:pt x="637415" y="628462"/>
                    <a:pt x="618797" y="647081"/>
                    <a:pt x="595830" y="647081"/>
                  </a:cubicBezTo>
                  <a:lnTo>
                    <a:pt x="41586" y="647081"/>
                  </a:lnTo>
                  <a:cubicBezTo>
                    <a:pt x="18619" y="647081"/>
                    <a:pt x="0" y="628462"/>
                    <a:pt x="0" y="605495"/>
                  </a:cubicBezTo>
                  <a:lnTo>
                    <a:pt x="0" y="41586"/>
                  </a:lnTo>
                  <a:cubicBezTo>
                    <a:pt x="0" y="18619"/>
                    <a:pt x="18619" y="0"/>
                    <a:pt x="41586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37415" cy="704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458497" y="6305133"/>
            <a:ext cx="1082147" cy="1154057"/>
            <a:chOff x="0" y="0"/>
            <a:chExt cx="285010" cy="3039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252439" y="9506804"/>
            <a:ext cx="1082147" cy="1154057"/>
            <a:chOff x="0" y="0"/>
            <a:chExt cx="285010" cy="3039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082684" y="1433105"/>
            <a:ext cx="14122632" cy="8191127"/>
          </a:xfrm>
          <a:custGeom>
            <a:avLst/>
            <a:gdLst/>
            <a:ahLst/>
            <a:cxnLst/>
            <a:rect l="l" t="t" r="r" b="b"/>
            <a:pathLst>
              <a:path w="14122632" h="8191127">
                <a:moveTo>
                  <a:pt x="0" y="0"/>
                </a:moveTo>
                <a:lnTo>
                  <a:pt x="14122632" y="0"/>
                </a:lnTo>
                <a:lnTo>
                  <a:pt x="14122632" y="8191127"/>
                </a:lnTo>
                <a:lnTo>
                  <a:pt x="0" y="81911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278125" y="255903"/>
            <a:ext cx="17375148" cy="1177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8"/>
              </a:lnSpc>
            </a:pPr>
            <a:r>
              <a:rPr lang="en-US" sz="7869" b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Luồng Xử Lý Đặt Hàng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94321" y="-928973"/>
            <a:ext cx="2123021" cy="2057400"/>
          </a:xfrm>
          <a:custGeom>
            <a:avLst/>
            <a:gdLst/>
            <a:ahLst/>
            <a:cxnLst/>
            <a:rect l="l" t="t" r="r" b="b"/>
            <a:pathLst>
              <a:path w="2123021" h="2057400">
                <a:moveTo>
                  <a:pt x="0" y="0"/>
                </a:moveTo>
                <a:lnTo>
                  <a:pt x="2123021" y="0"/>
                </a:lnTo>
                <a:lnTo>
                  <a:pt x="2123021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041518" y="726321"/>
            <a:ext cx="2420186" cy="2456884"/>
            <a:chOff x="0" y="0"/>
            <a:chExt cx="637415" cy="64708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7415" cy="647081"/>
            </a:xfrm>
            <a:custGeom>
              <a:avLst/>
              <a:gdLst/>
              <a:ahLst/>
              <a:cxnLst/>
              <a:rect l="l" t="t" r="r" b="b"/>
              <a:pathLst>
                <a:path w="637415" h="647081">
                  <a:moveTo>
                    <a:pt x="41586" y="0"/>
                  </a:moveTo>
                  <a:lnTo>
                    <a:pt x="595830" y="0"/>
                  </a:lnTo>
                  <a:cubicBezTo>
                    <a:pt x="606859" y="0"/>
                    <a:pt x="617436" y="4381"/>
                    <a:pt x="625235" y="12180"/>
                  </a:cubicBezTo>
                  <a:cubicBezTo>
                    <a:pt x="633034" y="19979"/>
                    <a:pt x="637415" y="30556"/>
                    <a:pt x="637415" y="41586"/>
                  </a:cubicBezTo>
                  <a:lnTo>
                    <a:pt x="637415" y="605495"/>
                  </a:lnTo>
                  <a:cubicBezTo>
                    <a:pt x="637415" y="628462"/>
                    <a:pt x="618797" y="647081"/>
                    <a:pt x="595830" y="647081"/>
                  </a:cubicBezTo>
                  <a:lnTo>
                    <a:pt x="41586" y="647081"/>
                  </a:lnTo>
                  <a:cubicBezTo>
                    <a:pt x="18619" y="647081"/>
                    <a:pt x="0" y="628462"/>
                    <a:pt x="0" y="605495"/>
                  </a:cubicBezTo>
                  <a:lnTo>
                    <a:pt x="0" y="41586"/>
                  </a:lnTo>
                  <a:cubicBezTo>
                    <a:pt x="0" y="18619"/>
                    <a:pt x="18619" y="0"/>
                    <a:pt x="41586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37415" cy="704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689696" y="9258300"/>
            <a:ext cx="1821590" cy="1858288"/>
            <a:chOff x="0" y="0"/>
            <a:chExt cx="479760" cy="4894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9760" cy="489426"/>
            </a:xfrm>
            <a:custGeom>
              <a:avLst/>
              <a:gdLst/>
              <a:ahLst/>
              <a:cxnLst/>
              <a:rect l="l" t="t" r="r" b="b"/>
              <a:pathLst>
                <a:path w="479760" h="489426">
                  <a:moveTo>
                    <a:pt x="55251" y="0"/>
                  </a:moveTo>
                  <a:lnTo>
                    <a:pt x="424509" y="0"/>
                  </a:lnTo>
                  <a:cubicBezTo>
                    <a:pt x="455024" y="0"/>
                    <a:pt x="479760" y="24737"/>
                    <a:pt x="479760" y="55251"/>
                  </a:cubicBezTo>
                  <a:lnTo>
                    <a:pt x="479760" y="434174"/>
                  </a:lnTo>
                  <a:cubicBezTo>
                    <a:pt x="479760" y="464689"/>
                    <a:pt x="455024" y="489426"/>
                    <a:pt x="424509" y="489426"/>
                  </a:cubicBezTo>
                  <a:lnTo>
                    <a:pt x="55251" y="489426"/>
                  </a:lnTo>
                  <a:cubicBezTo>
                    <a:pt x="24737" y="489426"/>
                    <a:pt x="0" y="464689"/>
                    <a:pt x="0" y="434174"/>
                  </a:cubicBezTo>
                  <a:lnTo>
                    <a:pt x="0" y="55251"/>
                  </a:lnTo>
                  <a:cubicBezTo>
                    <a:pt x="0" y="24737"/>
                    <a:pt x="24737" y="0"/>
                    <a:pt x="55251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79760" cy="546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72777" y="7759211"/>
            <a:ext cx="1082147" cy="1154057"/>
            <a:chOff x="0" y="0"/>
            <a:chExt cx="285010" cy="3039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90826" y="-427736"/>
            <a:ext cx="1082147" cy="1154057"/>
            <a:chOff x="0" y="0"/>
            <a:chExt cx="285010" cy="3039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6070131" y="8508585"/>
            <a:ext cx="4435738" cy="2377137"/>
          </a:xfrm>
          <a:custGeom>
            <a:avLst/>
            <a:gdLst/>
            <a:ahLst/>
            <a:cxnLst/>
            <a:rect l="l" t="t" r="r" b="b"/>
            <a:pathLst>
              <a:path w="4435738" h="2377137">
                <a:moveTo>
                  <a:pt x="0" y="0"/>
                </a:moveTo>
                <a:lnTo>
                  <a:pt x="4435738" y="0"/>
                </a:lnTo>
                <a:lnTo>
                  <a:pt x="4435738" y="2377137"/>
                </a:lnTo>
                <a:lnTo>
                  <a:pt x="0" y="23771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3493371" y="2734483"/>
            <a:ext cx="11301259" cy="6272199"/>
          </a:xfrm>
          <a:custGeom>
            <a:avLst/>
            <a:gdLst/>
            <a:ahLst/>
            <a:cxnLst/>
            <a:rect l="l" t="t" r="r" b="b"/>
            <a:pathLst>
              <a:path w="11301259" h="6272199">
                <a:moveTo>
                  <a:pt x="0" y="0"/>
                </a:moveTo>
                <a:lnTo>
                  <a:pt x="11301258" y="0"/>
                </a:lnTo>
                <a:lnTo>
                  <a:pt x="11301258" y="6272198"/>
                </a:lnTo>
                <a:lnTo>
                  <a:pt x="0" y="6272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143311" y="402478"/>
            <a:ext cx="5971020" cy="2080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39"/>
              </a:lnSpc>
            </a:pPr>
            <a:r>
              <a:rPr lang="en-US" sz="7663" b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Luồng Xử Lý</a:t>
            </a:r>
          </a:p>
          <a:p>
            <a:pPr marL="0" lvl="0" indent="0" algn="l">
              <a:lnSpc>
                <a:spcPts val="7739"/>
              </a:lnSpc>
            </a:pPr>
            <a:r>
              <a:rPr lang="en-US" sz="7663" b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Bất Đồng Bộ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94321" y="-928973"/>
            <a:ext cx="2123021" cy="2057400"/>
          </a:xfrm>
          <a:custGeom>
            <a:avLst/>
            <a:gdLst/>
            <a:ahLst/>
            <a:cxnLst/>
            <a:rect l="l" t="t" r="r" b="b"/>
            <a:pathLst>
              <a:path w="2123021" h="2057400">
                <a:moveTo>
                  <a:pt x="0" y="0"/>
                </a:moveTo>
                <a:lnTo>
                  <a:pt x="2123021" y="0"/>
                </a:lnTo>
                <a:lnTo>
                  <a:pt x="2123021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041518" y="726321"/>
            <a:ext cx="2420186" cy="2456884"/>
            <a:chOff x="0" y="0"/>
            <a:chExt cx="637415" cy="64708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7415" cy="647081"/>
            </a:xfrm>
            <a:custGeom>
              <a:avLst/>
              <a:gdLst/>
              <a:ahLst/>
              <a:cxnLst/>
              <a:rect l="l" t="t" r="r" b="b"/>
              <a:pathLst>
                <a:path w="637415" h="647081">
                  <a:moveTo>
                    <a:pt x="41586" y="0"/>
                  </a:moveTo>
                  <a:lnTo>
                    <a:pt x="595830" y="0"/>
                  </a:lnTo>
                  <a:cubicBezTo>
                    <a:pt x="606859" y="0"/>
                    <a:pt x="617436" y="4381"/>
                    <a:pt x="625235" y="12180"/>
                  </a:cubicBezTo>
                  <a:cubicBezTo>
                    <a:pt x="633034" y="19979"/>
                    <a:pt x="637415" y="30556"/>
                    <a:pt x="637415" y="41586"/>
                  </a:cubicBezTo>
                  <a:lnTo>
                    <a:pt x="637415" y="605495"/>
                  </a:lnTo>
                  <a:cubicBezTo>
                    <a:pt x="637415" y="628462"/>
                    <a:pt x="618797" y="647081"/>
                    <a:pt x="595830" y="647081"/>
                  </a:cubicBezTo>
                  <a:lnTo>
                    <a:pt x="41586" y="647081"/>
                  </a:lnTo>
                  <a:cubicBezTo>
                    <a:pt x="18619" y="647081"/>
                    <a:pt x="0" y="628462"/>
                    <a:pt x="0" y="605495"/>
                  </a:cubicBezTo>
                  <a:lnTo>
                    <a:pt x="0" y="41586"/>
                  </a:lnTo>
                  <a:cubicBezTo>
                    <a:pt x="0" y="18619"/>
                    <a:pt x="18619" y="0"/>
                    <a:pt x="41586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37415" cy="704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689696" y="9258300"/>
            <a:ext cx="1821590" cy="1858288"/>
            <a:chOff x="0" y="0"/>
            <a:chExt cx="479760" cy="4894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9760" cy="489426"/>
            </a:xfrm>
            <a:custGeom>
              <a:avLst/>
              <a:gdLst/>
              <a:ahLst/>
              <a:cxnLst/>
              <a:rect l="l" t="t" r="r" b="b"/>
              <a:pathLst>
                <a:path w="479760" h="489426">
                  <a:moveTo>
                    <a:pt x="55251" y="0"/>
                  </a:moveTo>
                  <a:lnTo>
                    <a:pt x="424509" y="0"/>
                  </a:lnTo>
                  <a:cubicBezTo>
                    <a:pt x="455024" y="0"/>
                    <a:pt x="479760" y="24737"/>
                    <a:pt x="479760" y="55251"/>
                  </a:cubicBezTo>
                  <a:lnTo>
                    <a:pt x="479760" y="434174"/>
                  </a:lnTo>
                  <a:cubicBezTo>
                    <a:pt x="479760" y="464689"/>
                    <a:pt x="455024" y="489426"/>
                    <a:pt x="424509" y="489426"/>
                  </a:cubicBezTo>
                  <a:lnTo>
                    <a:pt x="55251" y="489426"/>
                  </a:lnTo>
                  <a:cubicBezTo>
                    <a:pt x="24737" y="489426"/>
                    <a:pt x="0" y="464689"/>
                    <a:pt x="0" y="434174"/>
                  </a:cubicBezTo>
                  <a:lnTo>
                    <a:pt x="0" y="55251"/>
                  </a:lnTo>
                  <a:cubicBezTo>
                    <a:pt x="0" y="24737"/>
                    <a:pt x="24737" y="0"/>
                    <a:pt x="55251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79760" cy="546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72777" y="7759211"/>
            <a:ext cx="1082147" cy="1154057"/>
            <a:chOff x="0" y="0"/>
            <a:chExt cx="285010" cy="3039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90826" y="-427736"/>
            <a:ext cx="1082147" cy="1154057"/>
            <a:chOff x="0" y="0"/>
            <a:chExt cx="285010" cy="3039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875477" y="1954763"/>
            <a:ext cx="6269883" cy="2944152"/>
            <a:chOff x="0" y="0"/>
            <a:chExt cx="1651327" cy="77541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51327" cy="775414"/>
            </a:xfrm>
            <a:custGeom>
              <a:avLst/>
              <a:gdLst/>
              <a:ahLst/>
              <a:cxnLst/>
              <a:rect l="l" t="t" r="r" b="b"/>
              <a:pathLst>
                <a:path w="1651327" h="775414">
                  <a:moveTo>
                    <a:pt x="38278" y="0"/>
                  </a:moveTo>
                  <a:lnTo>
                    <a:pt x="1613049" y="0"/>
                  </a:lnTo>
                  <a:cubicBezTo>
                    <a:pt x="1634190" y="0"/>
                    <a:pt x="1651327" y="17138"/>
                    <a:pt x="1651327" y="38278"/>
                  </a:cubicBezTo>
                  <a:lnTo>
                    <a:pt x="1651327" y="737136"/>
                  </a:lnTo>
                  <a:cubicBezTo>
                    <a:pt x="1651327" y="758277"/>
                    <a:pt x="1634190" y="775414"/>
                    <a:pt x="1613049" y="775414"/>
                  </a:cubicBezTo>
                  <a:lnTo>
                    <a:pt x="38278" y="775414"/>
                  </a:lnTo>
                  <a:cubicBezTo>
                    <a:pt x="17138" y="775414"/>
                    <a:pt x="0" y="758277"/>
                    <a:pt x="0" y="737136"/>
                  </a:cubicBezTo>
                  <a:lnTo>
                    <a:pt x="0" y="38278"/>
                  </a:lnTo>
                  <a:cubicBezTo>
                    <a:pt x="0" y="17138"/>
                    <a:pt x="17138" y="0"/>
                    <a:pt x="38278" y="0"/>
                  </a:cubicBezTo>
                  <a:close/>
                </a:path>
              </a:pathLst>
            </a:custGeom>
            <a:solidFill>
              <a:srgbClr val="D5EDF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651327" cy="8325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6070131" y="8508585"/>
            <a:ext cx="4435738" cy="2377137"/>
          </a:xfrm>
          <a:custGeom>
            <a:avLst/>
            <a:gdLst/>
            <a:ahLst/>
            <a:cxnLst/>
            <a:rect l="l" t="t" r="r" b="b"/>
            <a:pathLst>
              <a:path w="4435738" h="2377137">
                <a:moveTo>
                  <a:pt x="0" y="0"/>
                </a:moveTo>
                <a:lnTo>
                  <a:pt x="4435738" y="0"/>
                </a:lnTo>
                <a:lnTo>
                  <a:pt x="4435738" y="2377137"/>
                </a:lnTo>
                <a:lnTo>
                  <a:pt x="0" y="23771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268297" y="5031245"/>
            <a:ext cx="11301259" cy="5156199"/>
          </a:xfrm>
          <a:custGeom>
            <a:avLst/>
            <a:gdLst/>
            <a:ahLst/>
            <a:cxnLst/>
            <a:rect l="l" t="t" r="r" b="b"/>
            <a:pathLst>
              <a:path w="11301259" h="5156199">
                <a:moveTo>
                  <a:pt x="0" y="0"/>
                </a:moveTo>
                <a:lnTo>
                  <a:pt x="11301259" y="0"/>
                </a:lnTo>
                <a:lnTo>
                  <a:pt x="11301259" y="5156199"/>
                </a:lnTo>
                <a:lnTo>
                  <a:pt x="0" y="51561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268297" y="0"/>
            <a:ext cx="11301259" cy="5170326"/>
          </a:xfrm>
          <a:custGeom>
            <a:avLst/>
            <a:gdLst/>
            <a:ahLst/>
            <a:cxnLst/>
            <a:rect l="l" t="t" r="r" b="b"/>
            <a:pathLst>
              <a:path w="11301259" h="5170326">
                <a:moveTo>
                  <a:pt x="0" y="0"/>
                </a:moveTo>
                <a:lnTo>
                  <a:pt x="11301259" y="0"/>
                </a:lnTo>
                <a:lnTo>
                  <a:pt x="11301259" y="5170326"/>
                </a:lnTo>
                <a:lnTo>
                  <a:pt x="0" y="51703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1689696" y="147352"/>
            <a:ext cx="5971020" cy="1558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24"/>
              </a:lnSpc>
            </a:pPr>
            <a:r>
              <a:rPr lang="en-US" sz="5767" b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Demo Giao Diện</a:t>
            </a:r>
          </a:p>
          <a:p>
            <a:pPr marL="0" lvl="0" indent="0" algn="l">
              <a:lnSpc>
                <a:spcPts val="5824"/>
              </a:lnSpc>
            </a:pPr>
            <a:r>
              <a:rPr lang="en-US" sz="5767" b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Trang Chủ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226577" y="2226806"/>
            <a:ext cx="5567683" cy="234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75"/>
              </a:lnSpc>
            </a:pPr>
            <a:r>
              <a:rPr lang="en-US" sz="2196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• Tích hợp thanh tìm kiếm và giỏ hàng</a:t>
            </a:r>
          </a:p>
          <a:p>
            <a:pPr marL="0" lvl="0" indent="0" algn="just">
              <a:lnSpc>
                <a:spcPts val="3075"/>
              </a:lnSpc>
            </a:pPr>
            <a:r>
              <a:rPr lang="en-US" sz="2196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• Hiển thị banner quảng cáo và danh mục trực quan</a:t>
            </a:r>
          </a:p>
          <a:p>
            <a:pPr marL="0" lvl="0" indent="0" algn="just">
              <a:lnSpc>
                <a:spcPts val="3075"/>
              </a:lnSpc>
            </a:pPr>
            <a:r>
              <a:rPr lang="en-US" sz="2196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• Đề xuất sản phẩm và hiển thị các sản phẩm nổi bật của từng loại hàng</a:t>
            </a:r>
          </a:p>
          <a:p>
            <a:pPr marL="0" lvl="0" indent="0" algn="just">
              <a:lnSpc>
                <a:spcPts val="3075"/>
              </a:lnSpc>
            </a:pPr>
            <a:endParaRPr lang="en-US" sz="2196">
              <a:solidFill>
                <a:srgbClr val="1D21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94321" y="-928973"/>
            <a:ext cx="2123021" cy="2057400"/>
          </a:xfrm>
          <a:custGeom>
            <a:avLst/>
            <a:gdLst/>
            <a:ahLst/>
            <a:cxnLst/>
            <a:rect l="l" t="t" r="r" b="b"/>
            <a:pathLst>
              <a:path w="2123021" h="2057400">
                <a:moveTo>
                  <a:pt x="0" y="0"/>
                </a:moveTo>
                <a:lnTo>
                  <a:pt x="2123021" y="0"/>
                </a:lnTo>
                <a:lnTo>
                  <a:pt x="2123021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041518" y="726321"/>
            <a:ext cx="2420186" cy="2456884"/>
            <a:chOff x="0" y="0"/>
            <a:chExt cx="637415" cy="64708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7415" cy="647081"/>
            </a:xfrm>
            <a:custGeom>
              <a:avLst/>
              <a:gdLst/>
              <a:ahLst/>
              <a:cxnLst/>
              <a:rect l="l" t="t" r="r" b="b"/>
              <a:pathLst>
                <a:path w="637415" h="647081">
                  <a:moveTo>
                    <a:pt x="41586" y="0"/>
                  </a:moveTo>
                  <a:lnTo>
                    <a:pt x="595830" y="0"/>
                  </a:lnTo>
                  <a:cubicBezTo>
                    <a:pt x="606859" y="0"/>
                    <a:pt x="617436" y="4381"/>
                    <a:pt x="625235" y="12180"/>
                  </a:cubicBezTo>
                  <a:cubicBezTo>
                    <a:pt x="633034" y="19979"/>
                    <a:pt x="637415" y="30556"/>
                    <a:pt x="637415" y="41586"/>
                  </a:cubicBezTo>
                  <a:lnTo>
                    <a:pt x="637415" y="605495"/>
                  </a:lnTo>
                  <a:cubicBezTo>
                    <a:pt x="637415" y="628462"/>
                    <a:pt x="618797" y="647081"/>
                    <a:pt x="595830" y="647081"/>
                  </a:cubicBezTo>
                  <a:lnTo>
                    <a:pt x="41586" y="647081"/>
                  </a:lnTo>
                  <a:cubicBezTo>
                    <a:pt x="18619" y="647081"/>
                    <a:pt x="0" y="628462"/>
                    <a:pt x="0" y="605495"/>
                  </a:cubicBezTo>
                  <a:lnTo>
                    <a:pt x="0" y="41586"/>
                  </a:lnTo>
                  <a:cubicBezTo>
                    <a:pt x="0" y="18619"/>
                    <a:pt x="18619" y="0"/>
                    <a:pt x="41586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37415" cy="704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689696" y="9258300"/>
            <a:ext cx="1821590" cy="1858288"/>
            <a:chOff x="0" y="0"/>
            <a:chExt cx="479760" cy="4894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9760" cy="489426"/>
            </a:xfrm>
            <a:custGeom>
              <a:avLst/>
              <a:gdLst/>
              <a:ahLst/>
              <a:cxnLst/>
              <a:rect l="l" t="t" r="r" b="b"/>
              <a:pathLst>
                <a:path w="479760" h="489426">
                  <a:moveTo>
                    <a:pt x="55251" y="0"/>
                  </a:moveTo>
                  <a:lnTo>
                    <a:pt x="424509" y="0"/>
                  </a:lnTo>
                  <a:cubicBezTo>
                    <a:pt x="455024" y="0"/>
                    <a:pt x="479760" y="24737"/>
                    <a:pt x="479760" y="55251"/>
                  </a:cubicBezTo>
                  <a:lnTo>
                    <a:pt x="479760" y="434174"/>
                  </a:lnTo>
                  <a:cubicBezTo>
                    <a:pt x="479760" y="464689"/>
                    <a:pt x="455024" y="489426"/>
                    <a:pt x="424509" y="489426"/>
                  </a:cubicBezTo>
                  <a:lnTo>
                    <a:pt x="55251" y="489426"/>
                  </a:lnTo>
                  <a:cubicBezTo>
                    <a:pt x="24737" y="489426"/>
                    <a:pt x="0" y="464689"/>
                    <a:pt x="0" y="434174"/>
                  </a:cubicBezTo>
                  <a:lnTo>
                    <a:pt x="0" y="55251"/>
                  </a:lnTo>
                  <a:cubicBezTo>
                    <a:pt x="0" y="24737"/>
                    <a:pt x="24737" y="0"/>
                    <a:pt x="55251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79760" cy="546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72777" y="7759211"/>
            <a:ext cx="1082147" cy="1154057"/>
            <a:chOff x="0" y="0"/>
            <a:chExt cx="285010" cy="3039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90826" y="-427736"/>
            <a:ext cx="1082147" cy="1154057"/>
            <a:chOff x="0" y="0"/>
            <a:chExt cx="285010" cy="3039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874585" y="3701679"/>
            <a:ext cx="5384715" cy="4443759"/>
            <a:chOff x="0" y="0"/>
            <a:chExt cx="1418196" cy="117037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18196" cy="1170373"/>
            </a:xfrm>
            <a:custGeom>
              <a:avLst/>
              <a:gdLst/>
              <a:ahLst/>
              <a:cxnLst/>
              <a:rect l="l" t="t" r="r" b="b"/>
              <a:pathLst>
                <a:path w="1418196" h="1170373">
                  <a:moveTo>
                    <a:pt x="44571" y="0"/>
                  </a:moveTo>
                  <a:lnTo>
                    <a:pt x="1373626" y="0"/>
                  </a:lnTo>
                  <a:cubicBezTo>
                    <a:pt x="1398241" y="0"/>
                    <a:pt x="1418196" y="19955"/>
                    <a:pt x="1418196" y="44571"/>
                  </a:cubicBezTo>
                  <a:lnTo>
                    <a:pt x="1418196" y="1125802"/>
                  </a:lnTo>
                  <a:cubicBezTo>
                    <a:pt x="1418196" y="1150418"/>
                    <a:pt x="1398241" y="1170373"/>
                    <a:pt x="1373626" y="1170373"/>
                  </a:cubicBezTo>
                  <a:lnTo>
                    <a:pt x="44571" y="1170373"/>
                  </a:lnTo>
                  <a:cubicBezTo>
                    <a:pt x="19955" y="1170373"/>
                    <a:pt x="0" y="1150418"/>
                    <a:pt x="0" y="1125802"/>
                  </a:cubicBezTo>
                  <a:lnTo>
                    <a:pt x="0" y="44571"/>
                  </a:lnTo>
                  <a:cubicBezTo>
                    <a:pt x="0" y="19955"/>
                    <a:pt x="19955" y="0"/>
                    <a:pt x="44571" y="0"/>
                  </a:cubicBezTo>
                  <a:close/>
                </a:path>
              </a:pathLst>
            </a:custGeom>
            <a:solidFill>
              <a:srgbClr val="D5EDF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418196" cy="1227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6070131" y="8508585"/>
            <a:ext cx="4435738" cy="2377137"/>
          </a:xfrm>
          <a:custGeom>
            <a:avLst/>
            <a:gdLst/>
            <a:ahLst/>
            <a:cxnLst/>
            <a:rect l="l" t="t" r="r" b="b"/>
            <a:pathLst>
              <a:path w="4435738" h="2377137">
                <a:moveTo>
                  <a:pt x="0" y="0"/>
                </a:moveTo>
                <a:lnTo>
                  <a:pt x="4435738" y="0"/>
                </a:lnTo>
                <a:lnTo>
                  <a:pt x="4435738" y="2377137"/>
                </a:lnTo>
                <a:lnTo>
                  <a:pt x="0" y="23771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-272777" y="0"/>
            <a:ext cx="11301259" cy="5184453"/>
          </a:xfrm>
          <a:custGeom>
            <a:avLst/>
            <a:gdLst/>
            <a:ahLst/>
            <a:cxnLst/>
            <a:rect l="l" t="t" r="r" b="b"/>
            <a:pathLst>
              <a:path w="11301259" h="5184453">
                <a:moveTo>
                  <a:pt x="0" y="0"/>
                </a:moveTo>
                <a:lnTo>
                  <a:pt x="11301259" y="0"/>
                </a:lnTo>
                <a:lnTo>
                  <a:pt x="11301259" y="5184453"/>
                </a:lnTo>
                <a:lnTo>
                  <a:pt x="0" y="51844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-272777" y="5031245"/>
            <a:ext cx="11301259" cy="5156199"/>
          </a:xfrm>
          <a:custGeom>
            <a:avLst/>
            <a:gdLst/>
            <a:ahLst/>
            <a:cxnLst/>
            <a:rect l="l" t="t" r="r" b="b"/>
            <a:pathLst>
              <a:path w="11301259" h="5156199">
                <a:moveTo>
                  <a:pt x="0" y="0"/>
                </a:moveTo>
                <a:lnTo>
                  <a:pt x="11301259" y="0"/>
                </a:lnTo>
                <a:lnTo>
                  <a:pt x="11301259" y="5156199"/>
                </a:lnTo>
                <a:lnTo>
                  <a:pt x="0" y="51561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1028482" y="196918"/>
            <a:ext cx="7161217" cy="2746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19"/>
              </a:lnSpc>
            </a:pPr>
            <a:r>
              <a:rPr lang="en-US" sz="6850" b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Demo Bộ Lọc Và Tìm Kiếm Sản Phẩm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25101" y="4527511"/>
            <a:ext cx="4567979" cy="2734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</a:pPr>
            <a:r>
              <a:rPr lang="en-US" sz="2199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• Tra cứu đa tiêu chí: Theo từ khóa, thương hiệu, khoảng giá.</a:t>
            </a:r>
          </a:p>
          <a:p>
            <a:pPr marL="0" lvl="0" indent="0" algn="l">
              <a:lnSpc>
                <a:spcPts val="3079"/>
              </a:lnSpc>
            </a:pPr>
            <a:r>
              <a:rPr lang="en-US" sz="2199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• Xử lý ngầm bằng Fetch API: Tải dữ liệu không cần F5/tải lại trang.</a:t>
            </a:r>
          </a:p>
          <a:p>
            <a:pPr marL="0" lvl="0" indent="0" algn="l">
              <a:lnSpc>
                <a:spcPts val="3079"/>
              </a:lnSpc>
            </a:pPr>
            <a:r>
              <a:rPr lang="en-US" sz="2199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• Hiển thị Real-time: Danh sách sản phẩm cập nhật tức thời theo bộ lọc.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94321" y="-928973"/>
            <a:ext cx="2123021" cy="2057400"/>
          </a:xfrm>
          <a:custGeom>
            <a:avLst/>
            <a:gdLst/>
            <a:ahLst/>
            <a:cxnLst/>
            <a:rect l="l" t="t" r="r" b="b"/>
            <a:pathLst>
              <a:path w="2123021" h="2057400">
                <a:moveTo>
                  <a:pt x="0" y="0"/>
                </a:moveTo>
                <a:lnTo>
                  <a:pt x="2123021" y="0"/>
                </a:lnTo>
                <a:lnTo>
                  <a:pt x="2123021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041518" y="726321"/>
            <a:ext cx="2420186" cy="2456884"/>
            <a:chOff x="0" y="0"/>
            <a:chExt cx="637415" cy="64708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7415" cy="647081"/>
            </a:xfrm>
            <a:custGeom>
              <a:avLst/>
              <a:gdLst/>
              <a:ahLst/>
              <a:cxnLst/>
              <a:rect l="l" t="t" r="r" b="b"/>
              <a:pathLst>
                <a:path w="637415" h="647081">
                  <a:moveTo>
                    <a:pt x="41586" y="0"/>
                  </a:moveTo>
                  <a:lnTo>
                    <a:pt x="595830" y="0"/>
                  </a:lnTo>
                  <a:cubicBezTo>
                    <a:pt x="606859" y="0"/>
                    <a:pt x="617436" y="4381"/>
                    <a:pt x="625235" y="12180"/>
                  </a:cubicBezTo>
                  <a:cubicBezTo>
                    <a:pt x="633034" y="19979"/>
                    <a:pt x="637415" y="30556"/>
                    <a:pt x="637415" y="41586"/>
                  </a:cubicBezTo>
                  <a:lnTo>
                    <a:pt x="637415" y="605495"/>
                  </a:lnTo>
                  <a:cubicBezTo>
                    <a:pt x="637415" y="628462"/>
                    <a:pt x="618797" y="647081"/>
                    <a:pt x="595830" y="647081"/>
                  </a:cubicBezTo>
                  <a:lnTo>
                    <a:pt x="41586" y="647081"/>
                  </a:lnTo>
                  <a:cubicBezTo>
                    <a:pt x="18619" y="647081"/>
                    <a:pt x="0" y="628462"/>
                    <a:pt x="0" y="605495"/>
                  </a:cubicBezTo>
                  <a:lnTo>
                    <a:pt x="0" y="41586"/>
                  </a:lnTo>
                  <a:cubicBezTo>
                    <a:pt x="0" y="18619"/>
                    <a:pt x="18619" y="0"/>
                    <a:pt x="41586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37415" cy="704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689696" y="9258300"/>
            <a:ext cx="1821590" cy="1858288"/>
            <a:chOff x="0" y="0"/>
            <a:chExt cx="479760" cy="4894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9760" cy="489426"/>
            </a:xfrm>
            <a:custGeom>
              <a:avLst/>
              <a:gdLst/>
              <a:ahLst/>
              <a:cxnLst/>
              <a:rect l="l" t="t" r="r" b="b"/>
              <a:pathLst>
                <a:path w="479760" h="489426">
                  <a:moveTo>
                    <a:pt x="55251" y="0"/>
                  </a:moveTo>
                  <a:lnTo>
                    <a:pt x="424509" y="0"/>
                  </a:lnTo>
                  <a:cubicBezTo>
                    <a:pt x="455024" y="0"/>
                    <a:pt x="479760" y="24737"/>
                    <a:pt x="479760" y="55251"/>
                  </a:cubicBezTo>
                  <a:lnTo>
                    <a:pt x="479760" y="434174"/>
                  </a:lnTo>
                  <a:cubicBezTo>
                    <a:pt x="479760" y="464689"/>
                    <a:pt x="455024" y="489426"/>
                    <a:pt x="424509" y="489426"/>
                  </a:cubicBezTo>
                  <a:lnTo>
                    <a:pt x="55251" y="489426"/>
                  </a:lnTo>
                  <a:cubicBezTo>
                    <a:pt x="24737" y="489426"/>
                    <a:pt x="0" y="464689"/>
                    <a:pt x="0" y="434174"/>
                  </a:cubicBezTo>
                  <a:lnTo>
                    <a:pt x="0" y="55251"/>
                  </a:lnTo>
                  <a:cubicBezTo>
                    <a:pt x="0" y="24737"/>
                    <a:pt x="24737" y="0"/>
                    <a:pt x="55251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79760" cy="546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72777" y="7759211"/>
            <a:ext cx="1082147" cy="1154057"/>
            <a:chOff x="0" y="0"/>
            <a:chExt cx="285010" cy="3039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90826" y="-427736"/>
            <a:ext cx="1082147" cy="1154057"/>
            <a:chOff x="0" y="0"/>
            <a:chExt cx="285010" cy="3039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853755" y="3006009"/>
            <a:ext cx="5241174" cy="4977647"/>
            <a:chOff x="0" y="0"/>
            <a:chExt cx="1380391" cy="13109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80391" cy="1310985"/>
            </a:xfrm>
            <a:custGeom>
              <a:avLst/>
              <a:gdLst/>
              <a:ahLst/>
              <a:cxnLst/>
              <a:rect l="l" t="t" r="r" b="b"/>
              <a:pathLst>
                <a:path w="1380391" h="1310985">
                  <a:moveTo>
                    <a:pt x="45791" y="0"/>
                  </a:moveTo>
                  <a:lnTo>
                    <a:pt x="1334600" y="0"/>
                  </a:lnTo>
                  <a:cubicBezTo>
                    <a:pt x="1346745" y="0"/>
                    <a:pt x="1358392" y="4824"/>
                    <a:pt x="1366980" y="13412"/>
                  </a:cubicBezTo>
                  <a:cubicBezTo>
                    <a:pt x="1375567" y="21999"/>
                    <a:pt x="1380391" y="33647"/>
                    <a:pt x="1380391" y="45791"/>
                  </a:cubicBezTo>
                  <a:lnTo>
                    <a:pt x="1380391" y="1265194"/>
                  </a:lnTo>
                  <a:cubicBezTo>
                    <a:pt x="1380391" y="1277339"/>
                    <a:pt x="1375567" y="1288986"/>
                    <a:pt x="1366980" y="1297573"/>
                  </a:cubicBezTo>
                  <a:cubicBezTo>
                    <a:pt x="1358392" y="1306161"/>
                    <a:pt x="1346745" y="1310985"/>
                    <a:pt x="1334600" y="1310985"/>
                  </a:cubicBezTo>
                  <a:lnTo>
                    <a:pt x="45791" y="1310985"/>
                  </a:lnTo>
                  <a:cubicBezTo>
                    <a:pt x="33647" y="1310985"/>
                    <a:pt x="21999" y="1306161"/>
                    <a:pt x="13412" y="1297573"/>
                  </a:cubicBezTo>
                  <a:cubicBezTo>
                    <a:pt x="4824" y="1288986"/>
                    <a:pt x="0" y="1277339"/>
                    <a:pt x="0" y="1265194"/>
                  </a:cubicBezTo>
                  <a:lnTo>
                    <a:pt x="0" y="45791"/>
                  </a:lnTo>
                  <a:cubicBezTo>
                    <a:pt x="0" y="33647"/>
                    <a:pt x="4824" y="21999"/>
                    <a:pt x="13412" y="13412"/>
                  </a:cubicBezTo>
                  <a:cubicBezTo>
                    <a:pt x="21999" y="4824"/>
                    <a:pt x="33647" y="0"/>
                    <a:pt x="45791" y="0"/>
                  </a:cubicBezTo>
                  <a:close/>
                </a:path>
              </a:pathLst>
            </a:custGeom>
            <a:solidFill>
              <a:srgbClr val="D5EDF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380391" cy="1368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6070131" y="8508585"/>
            <a:ext cx="4435738" cy="2377137"/>
          </a:xfrm>
          <a:custGeom>
            <a:avLst/>
            <a:gdLst/>
            <a:ahLst/>
            <a:cxnLst/>
            <a:rect l="l" t="t" r="r" b="b"/>
            <a:pathLst>
              <a:path w="4435738" h="2377137">
                <a:moveTo>
                  <a:pt x="0" y="0"/>
                </a:moveTo>
                <a:lnTo>
                  <a:pt x="4435738" y="0"/>
                </a:lnTo>
                <a:lnTo>
                  <a:pt x="4435738" y="2377137"/>
                </a:lnTo>
                <a:lnTo>
                  <a:pt x="0" y="23771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-32810" y="0"/>
            <a:ext cx="11301259" cy="5113820"/>
          </a:xfrm>
          <a:custGeom>
            <a:avLst/>
            <a:gdLst/>
            <a:ahLst/>
            <a:cxnLst/>
            <a:rect l="l" t="t" r="r" b="b"/>
            <a:pathLst>
              <a:path w="11301259" h="5113820">
                <a:moveTo>
                  <a:pt x="0" y="0"/>
                </a:moveTo>
                <a:lnTo>
                  <a:pt x="11301259" y="0"/>
                </a:lnTo>
                <a:lnTo>
                  <a:pt x="11301259" y="5113820"/>
                </a:lnTo>
                <a:lnTo>
                  <a:pt x="0" y="511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5181111"/>
            <a:ext cx="11301259" cy="5156199"/>
          </a:xfrm>
          <a:custGeom>
            <a:avLst/>
            <a:gdLst/>
            <a:ahLst/>
            <a:cxnLst/>
            <a:rect l="l" t="t" r="r" b="b"/>
            <a:pathLst>
              <a:path w="11301259" h="5156199">
                <a:moveTo>
                  <a:pt x="0" y="0"/>
                </a:moveTo>
                <a:lnTo>
                  <a:pt x="11301259" y="0"/>
                </a:lnTo>
                <a:lnTo>
                  <a:pt x="11301259" y="5156200"/>
                </a:lnTo>
                <a:lnTo>
                  <a:pt x="0" y="5156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1853755" y="363826"/>
            <a:ext cx="5971020" cy="1590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1"/>
              </a:lnSpc>
            </a:pPr>
            <a:r>
              <a:rPr lang="en-US" sz="5931" b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Demo Giỏ Hàng</a:t>
            </a:r>
          </a:p>
          <a:p>
            <a:pPr marL="0" lvl="0" indent="0" algn="l">
              <a:lnSpc>
                <a:spcPts val="5991"/>
              </a:lnSpc>
            </a:pPr>
            <a:r>
              <a:rPr lang="en-US" sz="5931" b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&amp; Đặt Hàng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406532" y="3317715"/>
            <a:ext cx="4135620" cy="3906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646" lvl="1" indent="-237323" algn="l">
              <a:lnSpc>
                <a:spcPts val="3077"/>
              </a:lnSpc>
              <a:buFont typeface="Arial"/>
              <a:buChar char="•"/>
            </a:pPr>
            <a:r>
              <a:rPr lang="en-US" sz="2198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Quản lý Giỏ hàng: Cập nhật số lượng &amp; Tính tổng tiền tự động.</a:t>
            </a:r>
          </a:p>
          <a:p>
            <a:pPr marL="474646" lvl="1" indent="-237323" algn="l">
              <a:lnSpc>
                <a:spcPts val="3077"/>
              </a:lnSpc>
              <a:buFont typeface="Arial"/>
              <a:buChar char="•"/>
            </a:pPr>
            <a:r>
              <a:rPr lang="en-US" sz="2198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Thông tin Giao hàng: Biểu mẫu thu thập địa chỉ khách hàng (COD).</a:t>
            </a:r>
          </a:p>
          <a:p>
            <a:pPr marL="474646" lvl="1" indent="-237323" algn="l">
              <a:lnSpc>
                <a:spcPts val="3077"/>
              </a:lnSpc>
              <a:buFont typeface="Arial"/>
              <a:buChar char="•"/>
            </a:pPr>
            <a:r>
              <a:rPr lang="en-US" sz="2198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Chốt đơn an toàn: Kiểm tra tồn kho và Ghi nhận đồng bộ vào CSDL.</a:t>
            </a:r>
          </a:p>
          <a:p>
            <a:pPr marL="0" lvl="0" indent="0" algn="l">
              <a:lnSpc>
                <a:spcPts val="3077"/>
              </a:lnSpc>
            </a:pPr>
            <a:endParaRPr lang="en-US" sz="2198">
              <a:solidFill>
                <a:srgbClr val="1D21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94321" y="-928973"/>
            <a:ext cx="2123021" cy="2057400"/>
          </a:xfrm>
          <a:custGeom>
            <a:avLst/>
            <a:gdLst/>
            <a:ahLst/>
            <a:cxnLst/>
            <a:rect l="l" t="t" r="r" b="b"/>
            <a:pathLst>
              <a:path w="2123021" h="2057400">
                <a:moveTo>
                  <a:pt x="0" y="0"/>
                </a:moveTo>
                <a:lnTo>
                  <a:pt x="2123021" y="0"/>
                </a:lnTo>
                <a:lnTo>
                  <a:pt x="2123021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041518" y="726321"/>
            <a:ext cx="2420186" cy="2456884"/>
            <a:chOff x="0" y="0"/>
            <a:chExt cx="637415" cy="64708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7415" cy="647081"/>
            </a:xfrm>
            <a:custGeom>
              <a:avLst/>
              <a:gdLst/>
              <a:ahLst/>
              <a:cxnLst/>
              <a:rect l="l" t="t" r="r" b="b"/>
              <a:pathLst>
                <a:path w="637415" h="647081">
                  <a:moveTo>
                    <a:pt x="41586" y="0"/>
                  </a:moveTo>
                  <a:lnTo>
                    <a:pt x="595830" y="0"/>
                  </a:lnTo>
                  <a:cubicBezTo>
                    <a:pt x="606859" y="0"/>
                    <a:pt x="617436" y="4381"/>
                    <a:pt x="625235" y="12180"/>
                  </a:cubicBezTo>
                  <a:cubicBezTo>
                    <a:pt x="633034" y="19979"/>
                    <a:pt x="637415" y="30556"/>
                    <a:pt x="637415" y="41586"/>
                  </a:cubicBezTo>
                  <a:lnTo>
                    <a:pt x="637415" y="605495"/>
                  </a:lnTo>
                  <a:cubicBezTo>
                    <a:pt x="637415" y="628462"/>
                    <a:pt x="618797" y="647081"/>
                    <a:pt x="595830" y="647081"/>
                  </a:cubicBezTo>
                  <a:lnTo>
                    <a:pt x="41586" y="647081"/>
                  </a:lnTo>
                  <a:cubicBezTo>
                    <a:pt x="18619" y="647081"/>
                    <a:pt x="0" y="628462"/>
                    <a:pt x="0" y="605495"/>
                  </a:cubicBezTo>
                  <a:lnTo>
                    <a:pt x="0" y="41586"/>
                  </a:lnTo>
                  <a:cubicBezTo>
                    <a:pt x="0" y="18619"/>
                    <a:pt x="18619" y="0"/>
                    <a:pt x="41586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37415" cy="704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689696" y="9258300"/>
            <a:ext cx="1821590" cy="1858288"/>
            <a:chOff x="0" y="0"/>
            <a:chExt cx="479760" cy="4894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9760" cy="489426"/>
            </a:xfrm>
            <a:custGeom>
              <a:avLst/>
              <a:gdLst/>
              <a:ahLst/>
              <a:cxnLst/>
              <a:rect l="l" t="t" r="r" b="b"/>
              <a:pathLst>
                <a:path w="479760" h="489426">
                  <a:moveTo>
                    <a:pt x="55251" y="0"/>
                  </a:moveTo>
                  <a:lnTo>
                    <a:pt x="424509" y="0"/>
                  </a:lnTo>
                  <a:cubicBezTo>
                    <a:pt x="455024" y="0"/>
                    <a:pt x="479760" y="24737"/>
                    <a:pt x="479760" y="55251"/>
                  </a:cubicBezTo>
                  <a:lnTo>
                    <a:pt x="479760" y="434174"/>
                  </a:lnTo>
                  <a:cubicBezTo>
                    <a:pt x="479760" y="464689"/>
                    <a:pt x="455024" y="489426"/>
                    <a:pt x="424509" y="489426"/>
                  </a:cubicBezTo>
                  <a:lnTo>
                    <a:pt x="55251" y="489426"/>
                  </a:lnTo>
                  <a:cubicBezTo>
                    <a:pt x="24737" y="489426"/>
                    <a:pt x="0" y="464689"/>
                    <a:pt x="0" y="434174"/>
                  </a:cubicBezTo>
                  <a:lnTo>
                    <a:pt x="0" y="55251"/>
                  </a:lnTo>
                  <a:cubicBezTo>
                    <a:pt x="0" y="24737"/>
                    <a:pt x="24737" y="0"/>
                    <a:pt x="55251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79760" cy="546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72777" y="7759211"/>
            <a:ext cx="1082147" cy="1154057"/>
            <a:chOff x="0" y="0"/>
            <a:chExt cx="285010" cy="3039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90826" y="-427736"/>
            <a:ext cx="1082147" cy="1154057"/>
            <a:chOff x="0" y="0"/>
            <a:chExt cx="285010" cy="3039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578497" y="3028545"/>
            <a:ext cx="4930169" cy="5480040"/>
            <a:chOff x="0" y="0"/>
            <a:chExt cx="1298481" cy="144330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98481" cy="1443303"/>
            </a:xfrm>
            <a:custGeom>
              <a:avLst/>
              <a:gdLst/>
              <a:ahLst/>
              <a:cxnLst/>
              <a:rect l="l" t="t" r="r" b="b"/>
              <a:pathLst>
                <a:path w="1298481" h="1443303">
                  <a:moveTo>
                    <a:pt x="48680" y="0"/>
                  </a:moveTo>
                  <a:lnTo>
                    <a:pt x="1249801" y="0"/>
                  </a:lnTo>
                  <a:cubicBezTo>
                    <a:pt x="1262711" y="0"/>
                    <a:pt x="1275093" y="5129"/>
                    <a:pt x="1284223" y="14258"/>
                  </a:cubicBezTo>
                  <a:cubicBezTo>
                    <a:pt x="1293352" y="23387"/>
                    <a:pt x="1298481" y="35769"/>
                    <a:pt x="1298481" y="48680"/>
                  </a:cubicBezTo>
                  <a:lnTo>
                    <a:pt x="1298481" y="1394623"/>
                  </a:lnTo>
                  <a:cubicBezTo>
                    <a:pt x="1298481" y="1421508"/>
                    <a:pt x="1276686" y="1443303"/>
                    <a:pt x="1249801" y="1443303"/>
                  </a:cubicBezTo>
                  <a:lnTo>
                    <a:pt x="48680" y="1443303"/>
                  </a:lnTo>
                  <a:cubicBezTo>
                    <a:pt x="35769" y="1443303"/>
                    <a:pt x="23387" y="1438174"/>
                    <a:pt x="14258" y="1429045"/>
                  </a:cubicBezTo>
                  <a:cubicBezTo>
                    <a:pt x="5129" y="1419916"/>
                    <a:pt x="0" y="1407534"/>
                    <a:pt x="0" y="1394623"/>
                  </a:cubicBezTo>
                  <a:lnTo>
                    <a:pt x="0" y="48680"/>
                  </a:lnTo>
                  <a:cubicBezTo>
                    <a:pt x="0" y="35769"/>
                    <a:pt x="5129" y="23387"/>
                    <a:pt x="14258" y="14258"/>
                  </a:cubicBezTo>
                  <a:cubicBezTo>
                    <a:pt x="23387" y="5129"/>
                    <a:pt x="35769" y="0"/>
                    <a:pt x="48680" y="0"/>
                  </a:cubicBezTo>
                  <a:close/>
                </a:path>
              </a:pathLst>
            </a:custGeom>
            <a:solidFill>
              <a:srgbClr val="D5EDF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298481" cy="15004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6070131" y="8508585"/>
            <a:ext cx="4435738" cy="2377137"/>
          </a:xfrm>
          <a:custGeom>
            <a:avLst/>
            <a:gdLst/>
            <a:ahLst/>
            <a:cxnLst/>
            <a:rect l="l" t="t" r="r" b="b"/>
            <a:pathLst>
              <a:path w="4435738" h="2377137">
                <a:moveTo>
                  <a:pt x="0" y="0"/>
                </a:moveTo>
                <a:lnTo>
                  <a:pt x="4435738" y="0"/>
                </a:lnTo>
                <a:lnTo>
                  <a:pt x="4435738" y="2377137"/>
                </a:lnTo>
                <a:lnTo>
                  <a:pt x="0" y="23771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0" y="-50311"/>
            <a:ext cx="11301259" cy="5156199"/>
          </a:xfrm>
          <a:custGeom>
            <a:avLst/>
            <a:gdLst/>
            <a:ahLst/>
            <a:cxnLst/>
            <a:rect l="l" t="t" r="r" b="b"/>
            <a:pathLst>
              <a:path w="11301259" h="5156199">
                <a:moveTo>
                  <a:pt x="0" y="0"/>
                </a:moveTo>
                <a:lnTo>
                  <a:pt x="11301259" y="0"/>
                </a:lnTo>
                <a:lnTo>
                  <a:pt x="11301259" y="5156200"/>
                </a:lnTo>
                <a:lnTo>
                  <a:pt x="0" y="5156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5105889"/>
            <a:ext cx="11301259" cy="5170326"/>
          </a:xfrm>
          <a:custGeom>
            <a:avLst/>
            <a:gdLst/>
            <a:ahLst/>
            <a:cxnLst/>
            <a:rect l="l" t="t" r="r" b="b"/>
            <a:pathLst>
              <a:path w="11301259" h="5170326">
                <a:moveTo>
                  <a:pt x="0" y="0"/>
                </a:moveTo>
                <a:lnTo>
                  <a:pt x="11301259" y="0"/>
                </a:lnTo>
                <a:lnTo>
                  <a:pt x="11301259" y="5170326"/>
                </a:lnTo>
                <a:lnTo>
                  <a:pt x="0" y="51703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2058071" y="206443"/>
            <a:ext cx="5971020" cy="1902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73"/>
              </a:lnSpc>
            </a:pPr>
            <a:r>
              <a:rPr lang="en-US" sz="7003" b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Demo Admin</a:t>
            </a:r>
          </a:p>
          <a:p>
            <a:pPr marL="0" lvl="0" indent="0" algn="l">
              <a:lnSpc>
                <a:spcPts val="7073"/>
              </a:lnSpc>
            </a:pPr>
            <a:r>
              <a:rPr lang="en-US" sz="7003" b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91171" y="3591468"/>
            <a:ext cx="4304821" cy="4297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Thống kê &amp; Báo cáo: Trực quan hóa doanh thu, lượng đơn hàng bằng biểu đồ.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Quản lý Sản phẩm: Kiểm soát thông số, giá bán và cập nhật số lượng tồn kho.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Công cụ tra cứu: Tích hợp bộ lọc và thanh tìm kiếm nhanh sản phẩm theo danh mục.</a:t>
            </a:r>
          </a:p>
          <a:p>
            <a:pPr marL="0" lvl="0" indent="0" algn="l">
              <a:lnSpc>
                <a:spcPts val="3079"/>
              </a:lnSpc>
            </a:pPr>
            <a:endParaRPr lang="en-US" sz="2199">
              <a:solidFill>
                <a:srgbClr val="1D21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94321" y="-928973"/>
            <a:ext cx="2123021" cy="2057400"/>
          </a:xfrm>
          <a:custGeom>
            <a:avLst/>
            <a:gdLst/>
            <a:ahLst/>
            <a:cxnLst/>
            <a:rect l="l" t="t" r="r" b="b"/>
            <a:pathLst>
              <a:path w="2123021" h="2057400">
                <a:moveTo>
                  <a:pt x="0" y="0"/>
                </a:moveTo>
                <a:lnTo>
                  <a:pt x="2123021" y="0"/>
                </a:lnTo>
                <a:lnTo>
                  <a:pt x="2123021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041518" y="726321"/>
            <a:ext cx="2420186" cy="2456884"/>
            <a:chOff x="0" y="0"/>
            <a:chExt cx="637415" cy="64708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7415" cy="647081"/>
            </a:xfrm>
            <a:custGeom>
              <a:avLst/>
              <a:gdLst/>
              <a:ahLst/>
              <a:cxnLst/>
              <a:rect l="l" t="t" r="r" b="b"/>
              <a:pathLst>
                <a:path w="637415" h="647081">
                  <a:moveTo>
                    <a:pt x="41586" y="0"/>
                  </a:moveTo>
                  <a:lnTo>
                    <a:pt x="595830" y="0"/>
                  </a:lnTo>
                  <a:cubicBezTo>
                    <a:pt x="606859" y="0"/>
                    <a:pt x="617436" y="4381"/>
                    <a:pt x="625235" y="12180"/>
                  </a:cubicBezTo>
                  <a:cubicBezTo>
                    <a:pt x="633034" y="19979"/>
                    <a:pt x="637415" y="30556"/>
                    <a:pt x="637415" y="41586"/>
                  </a:cubicBezTo>
                  <a:lnTo>
                    <a:pt x="637415" y="605495"/>
                  </a:lnTo>
                  <a:cubicBezTo>
                    <a:pt x="637415" y="628462"/>
                    <a:pt x="618797" y="647081"/>
                    <a:pt x="595830" y="647081"/>
                  </a:cubicBezTo>
                  <a:lnTo>
                    <a:pt x="41586" y="647081"/>
                  </a:lnTo>
                  <a:cubicBezTo>
                    <a:pt x="18619" y="647081"/>
                    <a:pt x="0" y="628462"/>
                    <a:pt x="0" y="605495"/>
                  </a:cubicBezTo>
                  <a:lnTo>
                    <a:pt x="0" y="41586"/>
                  </a:lnTo>
                  <a:cubicBezTo>
                    <a:pt x="0" y="18619"/>
                    <a:pt x="18619" y="0"/>
                    <a:pt x="41586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37415" cy="704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689696" y="9258300"/>
            <a:ext cx="1821590" cy="1858288"/>
            <a:chOff x="0" y="0"/>
            <a:chExt cx="479760" cy="4894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9760" cy="489426"/>
            </a:xfrm>
            <a:custGeom>
              <a:avLst/>
              <a:gdLst/>
              <a:ahLst/>
              <a:cxnLst/>
              <a:rect l="l" t="t" r="r" b="b"/>
              <a:pathLst>
                <a:path w="479760" h="489426">
                  <a:moveTo>
                    <a:pt x="55251" y="0"/>
                  </a:moveTo>
                  <a:lnTo>
                    <a:pt x="424509" y="0"/>
                  </a:lnTo>
                  <a:cubicBezTo>
                    <a:pt x="455024" y="0"/>
                    <a:pt x="479760" y="24737"/>
                    <a:pt x="479760" y="55251"/>
                  </a:cubicBezTo>
                  <a:lnTo>
                    <a:pt x="479760" y="434174"/>
                  </a:lnTo>
                  <a:cubicBezTo>
                    <a:pt x="479760" y="464689"/>
                    <a:pt x="455024" y="489426"/>
                    <a:pt x="424509" y="489426"/>
                  </a:cubicBezTo>
                  <a:lnTo>
                    <a:pt x="55251" y="489426"/>
                  </a:lnTo>
                  <a:cubicBezTo>
                    <a:pt x="24737" y="489426"/>
                    <a:pt x="0" y="464689"/>
                    <a:pt x="0" y="434174"/>
                  </a:cubicBezTo>
                  <a:lnTo>
                    <a:pt x="0" y="55251"/>
                  </a:lnTo>
                  <a:cubicBezTo>
                    <a:pt x="0" y="24737"/>
                    <a:pt x="24737" y="0"/>
                    <a:pt x="55251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79760" cy="546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72777" y="7759211"/>
            <a:ext cx="1082147" cy="1154057"/>
            <a:chOff x="0" y="0"/>
            <a:chExt cx="285010" cy="3039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90826" y="-427736"/>
            <a:ext cx="1082147" cy="1154057"/>
            <a:chOff x="0" y="0"/>
            <a:chExt cx="285010" cy="3039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786527" y="2527789"/>
            <a:ext cx="4930169" cy="6556596"/>
            <a:chOff x="0" y="0"/>
            <a:chExt cx="1298481" cy="17268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98481" cy="1726840"/>
            </a:xfrm>
            <a:custGeom>
              <a:avLst/>
              <a:gdLst/>
              <a:ahLst/>
              <a:cxnLst/>
              <a:rect l="l" t="t" r="r" b="b"/>
              <a:pathLst>
                <a:path w="1298481" h="1726840">
                  <a:moveTo>
                    <a:pt x="48680" y="0"/>
                  </a:moveTo>
                  <a:lnTo>
                    <a:pt x="1249801" y="0"/>
                  </a:lnTo>
                  <a:cubicBezTo>
                    <a:pt x="1262711" y="0"/>
                    <a:pt x="1275093" y="5129"/>
                    <a:pt x="1284223" y="14258"/>
                  </a:cubicBezTo>
                  <a:cubicBezTo>
                    <a:pt x="1293352" y="23387"/>
                    <a:pt x="1298481" y="35769"/>
                    <a:pt x="1298481" y="48680"/>
                  </a:cubicBezTo>
                  <a:lnTo>
                    <a:pt x="1298481" y="1678160"/>
                  </a:lnTo>
                  <a:cubicBezTo>
                    <a:pt x="1298481" y="1691071"/>
                    <a:pt x="1293352" y="1703453"/>
                    <a:pt x="1284223" y="1712582"/>
                  </a:cubicBezTo>
                  <a:cubicBezTo>
                    <a:pt x="1275093" y="1721711"/>
                    <a:pt x="1262711" y="1726840"/>
                    <a:pt x="1249801" y="1726840"/>
                  </a:cubicBezTo>
                  <a:lnTo>
                    <a:pt x="48680" y="1726840"/>
                  </a:lnTo>
                  <a:cubicBezTo>
                    <a:pt x="35769" y="1726840"/>
                    <a:pt x="23387" y="1721711"/>
                    <a:pt x="14258" y="1712582"/>
                  </a:cubicBezTo>
                  <a:cubicBezTo>
                    <a:pt x="5129" y="1703453"/>
                    <a:pt x="0" y="1691071"/>
                    <a:pt x="0" y="1678160"/>
                  </a:cubicBezTo>
                  <a:lnTo>
                    <a:pt x="0" y="48680"/>
                  </a:lnTo>
                  <a:cubicBezTo>
                    <a:pt x="0" y="35769"/>
                    <a:pt x="5129" y="23387"/>
                    <a:pt x="14258" y="14258"/>
                  </a:cubicBezTo>
                  <a:cubicBezTo>
                    <a:pt x="23387" y="5129"/>
                    <a:pt x="35769" y="0"/>
                    <a:pt x="48680" y="0"/>
                  </a:cubicBezTo>
                  <a:close/>
                </a:path>
              </a:pathLst>
            </a:custGeom>
            <a:solidFill>
              <a:srgbClr val="D5EDF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298481" cy="1783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6070131" y="8508585"/>
            <a:ext cx="4435738" cy="2377137"/>
          </a:xfrm>
          <a:custGeom>
            <a:avLst/>
            <a:gdLst/>
            <a:ahLst/>
            <a:cxnLst/>
            <a:rect l="l" t="t" r="r" b="b"/>
            <a:pathLst>
              <a:path w="4435738" h="2377137">
                <a:moveTo>
                  <a:pt x="0" y="0"/>
                </a:moveTo>
                <a:lnTo>
                  <a:pt x="4435738" y="0"/>
                </a:lnTo>
                <a:lnTo>
                  <a:pt x="4435738" y="2377137"/>
                </a:lnTo>
                <a:lnTo>
                  <a:pt x="0" y="23771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0" y="0"/>
            <a:ext cx="11301259" cy="5184453"/>
          </a:xfrm>
          <a:custGeom>
            <a:avLst/>
            <a:gdLst/>
            <a:ahLst/>
            <a:cxnLst/>
            <a:rect l="l" t="t" r="r" b="b"/>
            <a:pathLst>
              <a:path w="11301259" h="5184453">
                <a:moveTo>
                  <a:pt x="0" y="0"/>
                </a:moveTo>
                <a:lnTo>
                  <a:pt x="11301259" y="0"/>
                </a:lnTo>
                <a:lnTo>
                  <a:pt x="11301259" y="5184453"/>
                </a:lnTo>
                <a:lnTo>
                  <a:pt x="0" y="51844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5116674"/>
            <a:ext cx="11301259" cy="5170326"/>
          </a:xfrm>
          <a:custGeom>
            <a:avLst/>
            <a:gdLst/>
            <a:ahLst/>
            <a:cxnLst/>
            <a:rect l="l" t="t" r="r" b="b"/>
            <a:pathLst>
              <a:path w="11301259" h="5170326">
                <a:moveTo>
                  <a:pt x="0" y="0"/>
                </a:moveTo>
                <a:lnTo>
                  <a:pt x="11301259" y="0"/>
                </a:lnTo>
                <a:lnTo>
                  <a:pt x="11301259" y="5170326"/>
                </a:lnTo>
                <a:lnTo>
                  <a:pt x="0" y="51703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2058071" y="206443"/>
            <a:ext cx="5971020" cy="1902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73"/>
              </a:lnSpc>
            </a:pPr>
            <a:r>
              <a:rPr lang="en-US" sz="7003" b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Demo Admin</a:t>
            </a:r>
          </a:p>
          <a:p>
            <a:pPr marL="0" lvl="0" indent="0" algn="l">
              <a:lnSpc>
                <a:spcPts val="7073"/>
              </a:lnSpc>
            </a:pPr>
            <a:r>
              <a:rPr lang="en-US" sz="7003" b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81977" y="3039965"/>
            <a:ext cx="3539270" cy="546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Quản lý Đơn hàng: Theo dõi danh sách, trạng thái và tổng giá trị giao dịch.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Tra cứu Thông tin: Truy xuất nhanh dữ liệu khách hàng và mã đơn cụ thể.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Chi tiết Hạng mục: Liệt kê cụ thể từng sản phẩm, số lượng và đơn giá bên trong đơn.</a:t>
            </a:r>
          </a:p>
          <a:p>
            <a:pPr marL="0" lvl="0" indent="0" algn="just">
              <a:lnSpc>
                <a:spcPts val="3079"/>
              </a:lnSpc>
            </a:pPr>
            <a:endParaRPr lang="en-US" sz="2199">
              <a:solidFill>
                <a:srgbClr val="1D21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94321" y="-928973"/>
            <a:ext cx="2123021" cy="2057400"/>
          </a:xfrm>
          <a:custGeom>
            <a:avLst/>
            <a:gdLst/>
            <a:ahLst/>
            <a:cxnLst/>
            <a:rect l="l" t="t" r="r" b="b"/>
            <a:pathLst>
              <a:path w="2123021" h="2057400">
                <a:moveTo>
                  <a:pt x="0" y="0"/>
                </a:moveTo>
                <a:lnTo>
                  <a:pt x="2123021" y="0"/>
                </a:lnTo>
                <a:lnTo>
                  <a:pt x="2123021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041518" y="726321"/>
            <a:ext cx="2420186" cy="2456884"/>
            <a:chOff x="0" y="0"/>
            <a:chExt cx="637415" cy="64708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7415" cy="647081"/>
            </a:xfrm>
            <a:custGeom>
              <a:avLst/>
              <a:gdLst/>
              <a:ahLst/>
              <a:cxnLst/>
              <a:rect l="l" t="t" r="r" b="b"/>
              <a:pathLst>
                <a:path w="637415" h="647081">
                  <a:moveTo>
                    <a:pt x="41586" y="0"/>
                  </a:moveTo>
                  <a:lnTo>
                    <a:pt x="595830" y="0"/>
                  </a:lnTo>
                  <a:cubicBezTo>
                    <a:pt x="606859" y="0"/>
                    <a:pt x="617436" y="4381"/>
                    <a:pt x="625235" y="12180"/>
                  </a:cubicBezTo>
                  <a:cubicBezTo>
                    <a:pt x="633034" y="19979"/>
                    <a:pt x="637415" y="30556"/>
                    <a:pt x="637415" y="41586"/>
                  </a:cubicBezTo>
                  <a:lnTo>
                    <a:pt x="637415" y="605495"/>
                  </a:lnTo>
                  <a:cubicBezTo>
                    <a:pt x="637415" y="628462"/>
                    <a:pt x="618797" y="647081"/>
                    <a:pt x="595830" y="647081"/>
                  </a:cubicBezTo>
                  <a:lnTo>
                    <a:pt x="41586" y="647081"/>
                  </a:lnTo>
                  <a:cubicBezTo>
                    <a:pt x="18619" y="647081"/>
                    <a:pt x="0" y="628462"/>
                    <a:pt x="0" y="605495"/>
                  </a:cubicBezTo>
                  <a:lnTo>
                    <a:pt x="0" y="41586"/>
                  </a:lnTo>
                  <a:cubicBezTo>
                    <a:pt x="0" y="18619"/>
                    <a:pt x="18619" y="0"/>
                    <a:pt x="41586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37415" cy="704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689696" y="9258300"/>
            <a:ext cx="1821590" cy="1858288"/>
            <a:chOff x="0" y="0"/>
            <a:chExt cx="479760" cy="4894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9760" cy="489426"/>
            </a:xfrm>
            <a:custGeom>
              <a:avLst/>
              <a:gdLst/>
              <a:ahLst/>
              <a:cxnLst/>
              <a:rect l="l" t="t" r="r" b="b"/>
              <a:pathLst>
                <a:path w="479760" h="489426">
                  <a:moveTo>
                    <a:pt x="55251" y="0"/>
                  </a:moveTo>
                  <a:lnTo>
                    <a:pt x="424509" y="0"/>
                  </a:lnTo>
                  <a:cubicBezTo>
                    <a:pt x="455024" y="0"/>
                    <a:pt x="479760" y="24737"/>
                    <a:pt x="479760" y="55251"/>
                  </a:cubicBezTo>
                  <a:lnTo>
                    <a:pt x="479760" y="434174"/>
                  </a:lnTo>
                  <a:cubicBezTo>
                    <a:pt x="479760" y="464689"/>
                    <a:pt x="455024" y="489426"/>
                    <a:pt x="424509" y="489426"/>
                  </a:cubicBezTo>
                  <a:lnTo>
                    <a:pt x="55251" y="489426"/>
                  </a:lnTo>
                  <a:cubicBezTo>
                    <a:pt x="24737" y="489426"/>
                    <a:pt x="0" y="464689"/>
                    <a:pt x="0" y="434174"/>
                  </a:cubicBezTo>
                  <a:lnTo>
                    <a:pt x="0" y="55251"/>
                  </a:lnTo>
                  <a:cubicBezTo>
                    <a:pt x="0" y="24737"/>
                    <a:pt x="24737" y="0"/>
                    <a:pt x="55251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79760" cy="546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72777" y="7759211"/>
            <a:ext cx="1082147" cy="1154057"/>
            <a:chOff x="0" y="0"/>
            <a:chExt cx="285010" cy="3039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90826" y="-427736"/>
            <a:ext cx="1082147" cy="1154057"/>
            <a:chOff x="0" y="0"/>
            <a:chExt cx="285010" cy="3039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786527" y="2527789"/>
            <a:ext cx="4930169" cy="6556596"/>
            <a:chOff x="0" y="0"/>
            <a:chExt cx="1298481" cy="17268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98481" cy="1726840"/>
            </a:xfrm>
            <a:custGeom>
              <a:avLst/>
              <a:gdLst/>
              <a:ahLst/>
              <a:cxnLst/>
              <a:rect l="l" t="t" r="r" b="b"/>
              <a:pathLst>
                <a:path w="1298481" h="1726840">
                  <a:moveTo>
                    <a:pt x="48680" y="0"/>
                  </a:moveTo>
                  <a:lnTo>
                    <a:pt x="1249801" y="0"/>
                  </a:lnTo>
                  <a:cubicBezTo>
                    <a:pt x="1262711" y="0"/>
                    <a:pt x="1275093" y="5129"/>
                    <a:pt x="1284223" y="14258"/>
                  </a:cubicBezTo>
                  <a:cubicBezTo>
                    <a:pt x="1293352" y="23387"/>
                    <a:pt x="1298481" y="35769"/>
                    <a:pt x="1298481" y="48680"/>
                  </a:cubicBezTo>
                  <a:lnTo>
                    <a:pt x="1298481" y="1678160"/>
                  </a:lnTo>
                  <a:cubicBezTo>
                    <a:pt x="1298481" y="1691071"/>
                    <a:pt x="1293352" y="1703453"/>
                    <a:pt x="1284223" y="1712582"/>
                  </a:cubicBezTo>
                  <a:cubicBezTo>
                    <a:pt x="1275093" y="1721711"/>
                    <a:pt x="1262711" y="1726840"/>
                    <a:pt x="1249801" y="1726840"/>
                  </a:cubicBezTo>
                  <a:lnTo>
                    <a:pt x="48680" y="1726840"/>
                  </a:lnTo>
                  <a:cubicBezTo>
                    <a:pt x="35769" y="1726840"/>
                    <a:pt x="23387" y="1721711"/>
                    <a:pt x="14258" y="1712582"/>
                  </a:cubicBezTo>
                  <a:cubicBezTo>
                    <a:pt x="5129" y="1703453"/>
                    <a:pt x="0" y="1691071"/>
                    <a:pt x="0" y="1678160"/>
                  </a:cubicBezTo>
                  <a:lnTo>
                    <a:pt x="0" y="48680"/>
                  </a:lnTo>
                  <a:cubicBezTo>
                    <a:pt x="0" y="35769"/>
                    <a:pt x="5129" y="23387"/>
                    <a:pt x="14258" y="14258"/>
                  </a:cubicBezTo>
                  <a:cubicBezTo>
                    <a:pt x="23387" y="5129"/>
                    <a:pt x="35769" y="0"/>
                    <a:pt x="48680" y="0"/>
                  </a:cubicBezTo>
                  <a:close/>
                </a:path>
              </a:pathLst>
            </a:custGeom>
            <a:solidFill>
              <a:srgbClr val="D5EDF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298481" cy="1783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6070131" y="8508585"/>
            <a:ext cx="4435738" cy="2377137"/>
          </a:xfrm>
          <a:custGeom>
            <a:avLst/>
            <a:gdLst/>
            <a:ahLst/>
            <a:cxnLst/>
            <a:rect l="l" t="t" r="r" b="b"/>
            <a:pathLst>
              <a:path w="4435738" h="2377137">
                <a:moveTo>
                  <a:pt x="0" y="0"/>
                </a:moveTo>
                <a:lnTo>
                  <a:pt x="4435738" y="0"/>
                </a:lnTo>
                <a:lnTo>
                  <a:pt x="4435738" y="2377137"/>
                </a:lnTo>
                <a:lnTo>
                  <a:pt x="0" y="23771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-32810" y="43807"/>
            <a:ext cx="11301259" cy="5099693"/>
          </a:xfrm>
          <a:custGeom>
            <a:avLst/>
            <a:gdLst/>
            <a:ahLst/>
            <a:cxnLst/>
            <a:rect l="l" t="t" r="r" b="b"/>
            <a:pathLst>
              <a:path w="11301259" h="5099693">
                <a:moveTo>
                  <a:pt x="0" y="0"/>
                </a:moveTo>
                <a:lnTo>
                  <a:pt x="11301259" y="0"/>
                </a:lnTo>
                <a:lnTo>
                  <a:pt x="11301259" y="5099693"/>
                </a:lnTo>
                <a:lnTo>
                  <a:pt x="0" y="50996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-32810" y="5045371"/>
            <a:ext cx="11301259" cy="5142073"/>
          </a:xfrm>
          <a:custGeom>
            <a:avLst/>
            <a:gdLst/>
            <a:ahLst/>
            <a:cxnLst/>
            <a:rect l="l" t="t" r="r" b="b"/>
            <a:pathLst>
              <a:path w="11301259" h="5142073">
                <a:moveTo>
                  <a:pt x="0" y="0"/>
                </a:moveTo>
                <a:lnTo>
                  <a:pt x="11301259" y="0"/>
                </a:lnTo>
                <a:lnTo>
                  <a:pt x="11301259" y="5142073"/>
                </a:lnTo>
                <a:lnTo>
                  <a:pt x="0" y="51420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2058071" y="206443"/>
            <a:ext cx="5971020" cy="1902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73"/>
              </a:lnSpc>
            </a:pPr>
            <a:r>
              <a:rPr lang="en-US" sz="7003" b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Demo Admin</a:t>
            </a:r>
          </a:p>
          <a:p>
            <a:pPr marL="0" lvl="0" indent="0" algn="l">
              <a:lnSpc>
                <a:spcPts val="7073"/>
              </a:lnSpc>
            </a:pPr>
            <a:r>
              <a:rPr lang="en-US" sz="7003" b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81977" y="2847940"/>
            <a:ext cx="3539270" cy="585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Quản lý Tài khoản: Giám sát danh sách và trạng thái hoạt động của toàn bộ người dùng.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Chi tiết Hồ sơ: Truy xuất và cập nhật thông tin cá nhân (họ tên, email, mật khẩu).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Phân quyền &amp; Bảo mật: Cấp hoặc thu hồi quyền quản trị cho từng cá nhân một cách an toàn.</a:t>
            </a:r>
          </a:p>
          <a:p>
            <a:pPr marL="0" lvl="0" indent="0" algn="just">
              <a:lnSpc>
                <a:spcPts val="3079"/>
              </a:lnSpc>
            </a:pPr>
            <a:endParaRPr lang="en-US" sz="2199">
              <a:solidFill>
                <a:srgbClr val="1D21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6034" y="4400050"/>
            <a:ext cx="2420186" cy="2456884"/>
            <a:chOff x="0" y="0"/>
            <a:chExt cx="637415" cy="6470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7415" cy="647081"/>
            </a:xfrm>
            <a:custGeom>
              <a:avLst/>
              <a:gdLst/>
              <a:ahLst/>
              <a:cxnLst/>
              <a:rect l="l" t="t" r="r" b="b"/>
              <a:pathLst>
                <a:path w="637415" h="647081">
                  <a:moveTo>
                    <a:pt x="41586" y="0"/>
                  </a:moveTo>
                  <a:lnTo>
                    <a:pt x="595830" y="0"/>
                  </a:lnTo>
                  <a:cubicBezTo>
                    <a:pt x="606859" y="0"/>
                    <a:pt x="617436" y="4381"/>
                    <a:pt x="625235" y="12180"/>
                  </a:cubicBezTo>
                  <a:cubicBezTo>
                    <a:pt x="633034" y="19979"/>
                    <a:pt x="637415" y="30556"/>
                    <a:pt x="637415" y="41586"/>
                  </a:cubicBezTo>
                  <a:lnTo>
                    <a:pt x="637415" y="605495"/>
                  </a:lnTo>
                  <a:cubicBezTo>
                    <a:pt x="637415" y="628462"/>
                    <a:pt x="618797" y="647081"/>
                    <a:pt x="595830" y="647081"/>
                  </a:cubicBezTo>
                  <a:lnTo>
                    <a:pt x="41586" y="647081"/>
                  </a:lnTo>
                  <a:cubicBezTo>
                    <a:pt x="18619" y="647081"/>
                    <a:pt x="0" y="628462"/>
                    <a:pt x="0" y="605495"/>
                  </a:cubicBezTo>
                  <a:lnTo>
                    <a:pt x="0" y="41586"/>
                  </a:lnTo>
                  <a:cubicBezTo>
                    <a:pt x="0" y="18619"/>
                    <a:pt x="18619" y="0"/>
                    <a:pt x="41586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37415" cy="704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5336169" cy="7746270"/>
            <a:chOff x="0" y="0"/>
            <a:chExt cx="2381834" cy="34575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81834" cy="3457598"/>
            </a:xfrm>
            <a:custGeom>
              <a:avLst/>
              <a:gdLst/>
              <a:ahLst/>
              <a:cxnLst/>
              <a:rect l="l" t="t" r="r" b="b"/>
              <a:pathLst>
                <a:path w="2381834" h="3457598">
                  <a:moveTo>
                    <a:pt x="42074" y="0"/>
                  </a:moveTo>
                  <a:lnTo>
                    <a:pt x="2339759" y="0"/>
                  </a:lnTo>
                  <a:cubicBezTo>
                    <a:pt x="2350918" y="0"/>
                    <a:pt x="2361620" y="4433"/>
                    <a:pt x="2369510" y="12323"/>
                  </a:cubicBezTo>
                  <a:cubicBezTo>
                    <a:pt x="2377401" y="20214"/>
                    <a:pt x="2381834" y="30916"/>
                    <a:pt x="2381834" y="42074"/>
                  </a:cubicBezTo>
                  <a:lnTo>
                    <a:pt x="2381834" y="3415524"/>
                  </a:lnTo>
                  <a:cubicBezTo>
                    <a:pt x="2381834" y="3426683"/>
                    <a:pt x="2377401" y="3437384"/>
                    <a:pt x="2369510" y="3445275"/>
                  </a:cubicBezTo>
                  <a:cubicBezTo>
                    <a:pt x="2361620" y="3453166"/>
                    <a:pt x="2350918" y="3457598"/>
                    <a:pt x="2339759" y="3457598"/>
                  </a:cubicBezTo>
                  <a:lnTo>
                    <a:pt x="42074" y="3457598"/>
                  </a:lnTo>
                  <a:cubicBezTo>
                    <a:pt x="30916" y="3457598"/>
                    <a:pt x="20214" y="3453166"/>
                    <a:pt x="12323" y="3445275"/>
                  </a:cubicBezTo>
                  <a:cubicBezTo>
                    <a:pt x="4433" y="3437384"/>
                    <a:pt x="0" y="3426683"/>
                    <a:pt x="0" y="3415524"/>
                  </a:cubicBezTo>
                  <a:lnTo>
                    <a:pt x="0" y="42074"/>
                  </a:lnTo>
                  <a:cubicBezTo>
                    <a:pt x="0" y="30916"/>
                    <a:pt x="4433" y="20214"/>
                    <a:pt x="12323" y="12323"/>
                  </a:cubicBezTo>
                  <a:cubicBezTo>
                    <a:pt x="20214" y="4433"/>
                    <a:pt x="30916" y="0"/>
                    <a:pt x="42074" y="0"/>
                  </a:cubicBezTo>
                  <a:close/>
                </a:path>
              </a:pathLst>
            </a:custGeom>
            <a:blipFill>
              <a:blip r:embed="rId2"/>
              <a:stretch>
                <a:fillRect t="-1122" b="-1122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035420" y="2661664"/>
            <a:ext cx="10223880" cy="992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85"/>
              </a:lnSpc>
            </a:pPr>
            <a:r>
              <a:rPr lang="en-US" sz="5560" b="1">
                <a:solidFill>
                  <a:srgbClr val="1D2159"/>
                </a:solidFill>
                <a:latin typeface="Poppins Bold"/>
                <a:ea typeface="Poppins Bold"/>
                <a:cs typeface="Poppins Bold"/>
                <a:sym typeface="Poppins Bold"/>
              </a:rPr>
              <a:t>Kết Luận &amp; Hướng Phát Triển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035420" y="4367906"/>
            <a:ext cx="9275351" cy="2351498"/>
            <a:chOff x="0" y="0"/>
            <a:chExt cx="2442891" cy="6193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42891" cy="619324"/>
            </a:xfrm>
            <a:custGeom>
              <a:avLst/>
              <a:gdLst/>
              <a:ahLst/>
              <a:cxnLst/>
              <a:rect l="l" t="t" r="r" b="b"/>
              <a:pathLst>
                <a:path w="2442891" h="619324">
                  <a:moveTo>
                    <a:pt x="25875" y="0"/>
                  </a:moveTo>
                  <a:lnTo>
                    <a:pt x="2417016" y="0"/>
                  </a:lnTo>
                  <a:cubicBezTo>
                    <a:pt x="2431306" y="0"/>
                    <a:pt x="2442891" y="11585"/>
                    <a:pt x="2442891" y="25875"/>
                  </a:cubicBezTo>
                  <a:lnTo>
                    <a:pt x="2442891" y="593449"/>
                  </a:lnTo>
                  <a:cubicBezTo>
                    <a:pt x="2442891" y="607740"/>
                    <a:pt x="2431306" y="619324"/>
                    <a:pt x="2417016" y="619324"/>
                  </a:cubicBezTo>
                  <a:lnTo>
                    <a:pt x="25875" y="619324"/>
                  </a:lnTo>
                  <a:cubicBezTo>
                    <a:pt x="11585" y="619324"/>
                    <a:pt x="0" y="607740"/>
                    <a:pt x="0" y="593449"/>
                  </a:cubicBezTo>
                  <a:lnTo>
                    <a:pt x="0" y="25875"/>
                  </a:lnTo>
                  <a:cubicBezTo>
                    <a:pt x="0" y="11585"/>
                    <a:pt x="11585" y="0"/>
                    <a:pt x="25875" y="0"/>
                  </a:cubicBezTo>
                  <a:close/>
                </a:path>
              </a:pathLst>
            </a:custGeom>
            <a:solidFill>
              <a:srgbClr val="D5EDF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442891" cy="6764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298198" y="4547657"/>
            <a:ext cx="8749796" cy="1887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45"/>
              </a:lnSpc>
            </a:pPr>
            <a:r>
              <a:rPr lang="en-US" sz="1818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✔ Ứng dụng thành công kiến trúc MVT, công nghệ Django, Python hiện đại</a:t>
            </a:r>
          </a:p>
          <a:p>
            <a:pPr marL="0" lvl="0" indent="0" algn="just">
              <a:lnSpc>
                <a:spcPts val="2545"/>
              </a:lnSpc>
            </a:pPr>
            <a:r>
              <a:rPr lang="en-US" sz="1818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✔ Giao diện thân thiện, trải nghiệm mượt mà, hệ thống ổn định</a:t>
            </a:r>
          </a:p>
          <a:p>
            <a:pPr marL="0" lvl="0" indent="0" algn="just">
              <a:lnSpc>
                <a:spcPts val="2545"/>
              </a:lnSpc>
            </a:pPr>
            <a:r>
              <a:rPr lang="en-US" sz="1818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⚠ Hạn chế: chưa có thanh toán trực tuyến, chưa có đánh giá sản phẩm</a:t>
            </a:r>
          </a:p>
          <a:p>
            <a:pPr marL="0" lvl="0" indent="0" algn="just">
              <a:lnSpc>
                <a:spcPts val="2545"/>
              </a:lnSpc>
            </a:pPr>
            <a:r>
              <a:rPr lang="en-US" sz="1818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→ Hướng phát triển: tích hợp API thanh toán, triển khai cloud, gợi ý thông minh, đánh giá &amp; bình luận</a:t>
            </a:r>
          </a:p>
          <a:p>
            <a:pPr marL="0" lvl="0" indent="0" algn="just">
              <a:lnSpc>
                <a:spcPts val="2545"/>
              </a:lnSpc>
            </a:pPr>
            <a:r>
              <a:rPr lang="en-US" sz="1818">
                <a:solidFill>
                  <a:srgbClr val="1D2159"/>
                </a:solidFill>
                <a:latin typeface="Poppins"/>
                <a:ea typeface="Poppins"/>
                <a:cs typeface="Poppins"/>
                <a:sym typeface="Poppins"/>
              </a:rPr>
              <a:t>Xin chân thành cảm ơn sự quan tâm và lắng nghe!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28700" y="9258300"/>
            <a:ext cx="5460231" cy="1777057"/>
          </a:xfrm>
          <a:custGeom>
            <a:avLst/>
            <a:gdLst/>
            <a:ahLst/>
            <a:cxnLst/>
            <a:rect l="l" t="t" r="r" b="b"/>
            <a:pathLst>
              <a:path w="5460231" h="1777057">
                <a:moveTo>
                  <a:pt x="0" y="0"/>
                </a:moveTo>
                <a:lnTo>
                  <a:pt x="5460231" y="0"/>
                </a:lnTo>
                <a:lnTo>
                  <a:pt x="5460231" y="1777057"/>
                </a:lnTo>
                <a:lnTo>
                  <a:pt x="0" y="17770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14020220" y="-621932"/>
            <a:ext cx="1371473" cy="1650632"/>
            <a:chOff x="0" y="0"/>
            <a:chExt cx="361211" cy="43473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61211" cy="434734"/>
            </a:xfrm>
            <a:custGeom>
              <a:avLst/>
              <a:gdLst/>
              <a:ahLst/>
              <a:cxnLst/>
              <a:rect l="l" t="t" r="r" b="b"/>
              <a:pathLst>
                <a:path w="361211" h="434734">
                  <a:moveTo>
                    <a:pt x="73385" y="0"/>
                  </a:moveTo>
                  <a:lnTo>
                    <a:pt x="287826" y="0"/>
                  </a:lnTo>
                  <a:cubicBezTo>
                    <a:pt x="328356" y="0"/>
                    <a:pt x="361211" y="32855"/>
                    <a:pt x="361211" y="73385"/>
                  </a:cubicBezTo>
                  <a:lnTo>
                    <a:pt x="361211" y="361350"/>
                  </a:lnTo>
                  <a:cubicBezTo>
                    <a:pt x="361211" y="401879"/>
                    <a:pt x="328356" y="434734"/>
                    <a:pt x="287826" y="434734"/>
                  </a:cubicBezTo>
                  <a:lnTo>
                    <a:pt x="73385" y="434734"/>
                  </a:lnTo>
                  <a:cubicBezTo>
                    <a:pt x="53922" y="434734"/>
                    <a:pt x="35256" y="427003"/>
                    <a:pt x="21494" y="413241"/>
                  </a:cubicBezTo>
                  <a:cubicBezTo>
                    <a:pt x="7732" y="399478"/>
                    <a:pt x="0" y="380813"/>
                    <a:pt x="0" y="361350"/>
                  </a:cubicBezTo>
                  <a:lnTo>
                    <a:pt x="0" y="73385"/>
                  </a:lnTo>
                  <a:cubicBezTo>
                    <a:pt x="0" y="32855"/>
                    <a:pt x="32855" y="0"/>
                    <a:pt x="73385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361211" cy="4918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104153" y="-373645"/>
            <a:ext cx="1082147" cy="1154057"/>
            <a:chOff x="0" y="0"/>
            <a:chExt cx="285010" cy="30394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451616" y="9470780"/>
            <a:ext cx="1082147" cy="1154057"/>
            <a:chOff x="0" y="0"/>
            <a:chExt cx="285010" cy="30394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963906" y="5702877"/>
            <a:ext cx="1082147" cy="1154057"/>
            <a:chOff x="0" y="0"/>
            <a:chExt cx="285010" cy="30394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85010" cy="303949"/>
            </a:xfrm>
            <a:custGeom>
              <a:avLst/>
              <a:gdLst/>
              <a:ahLst/>
              <a:cxnLst/>
              <a:rect l="l" t="t" r="r" b="b"/>
              <a:pathLst>
                <a:path w="285010" h="303949">
                  <a:moveTo>
                    <a:pt x="93005" y="0"/>
                  </a:moveTo>
                  <a:lnTo>
                    <a:pt x="192005" y="0"/>
                  </a:lnTo>
                  <a:cubicBezTo>
                    <a:pt x="243370" y="0"/>
                    <a:pt x="285010" y="41640"/>
                    <a:pt x="285010" y="93005"/>
                  </a:cubicBezTo>
                  <a:lnTo>
                    <a:pt x="285010" y="210944"/>
                  </a:lnTo>
                  <a:cubicBezTo>
                    <a:pt x="285010" y="262309"/>
                    <a:pt x="243370" y="303949"/>
                    <a:pt x="192005" y="303949"/>
                  </a:cubicBezTo>
                  <a:lnTo>
                    <a:pt x="93005" y="303949"/>
                  </a:lnTo>
                  <a:cubicBezTo>
                    <a:pt x="41640" y="303949"/>
                    <a:pt x="0" y="262309"/>
                    <a:pt x="0" y="210944"/>
                  </a:cubicBezTo>
                  <a:lnTo>
                    <a:pt x="0" y="93005"/>
                  </a:lnTo>
                  <a:cubicBezTo>
                    <a:pt x="0" y="41640"/>
                    <a:pt x="41640" y="0"/>
                    <a:pt x="93005" y="0"/>
                  </a:cubicBezTo>
                  <a:close/>
                </a:path>
              </a:pathLst>
            </a:custGeom>
            <a:solidFill>
              <a:srgbClr val="D5EDF1">
                <a:alpha val="3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285010" cy="36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6963906" y="1089222"/>
            <a:ext cx="2394159" cy="2320158"/>
          </a:xfrm>
          <a:custGeom>
            <a:avLst/>
            <a:gdLst/>
            <a:ahLst/>
            <a:cxnLst/>
            <a:rect l="l" t="t" r="r" b="b"/>
            <a:pathLst>
              <a:path w="2394159" h="2320158">
                <a:moveTo>
                  <a:pt x="0" y="0"/>
                </a:moveTo>
                <a:lnTo>
                  <a:pt x="2394158" y="0"/>
                </a:lnTo>
                <a:lnTo>
                  <a:pt x="2394158" y="2320157"/>
                </a:lnTo>
                <a:lnTo>
                  <a:pt x="0" y="23201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821</Words>
  <Application>Microsoft Office PowerPoint</Application>
  <PresentationFormat>Custom</PresentationFormat>
  <Paragraphs>79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Poppins</vt:lpstr>
      <vt:lpstr>Calibri</vt:lpstr>
      <vt:lpstr>Lato</vt:lpstr>
      <vt:lpstr>Poppins Bold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Xây dựng website bán thiết bị di động</dc:title>
  <cp:lastModifiedBy>Vũ Nguyễn Duy</cp:lastModifiedBy>
  <cp:revision>3</cp:revision>
  <dcterms:created xsi:type="dcterms:W3CDTF">2006-08-16T00:00:00Z</dcterms:created>
  <dcterms:modified xsi:type="dcterms:W3CDTF">2026-06-08T00:12:40Z</dcterms:modified>
  <dc:identifier>DAHLhv17qFs</dc:identifier>
</cp:coreProperties>
</file>